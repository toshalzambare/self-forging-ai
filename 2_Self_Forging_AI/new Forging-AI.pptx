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6" roundtripDataSignature="AMtx7miiYSojlmJj++JC8TiC/b9Cj2kI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D43A953-89AF-4EFA-9AF0-8826F88E2BA4}">
  <a:tblStyle styleId="{AD43A953-89AF-4EFA-9AF0-8826F88E2BA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1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1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1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1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457200"/>
            <a:ext cx="7772400" cy="285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n-US" sz="3600">
                <a:latin typeface="Times New Roman"/>
                <a:ea typeface="Times New Roman"/>
                <a:cs typeface="Times New Roman"/>
                <a:sym typeface="Times New Roman"/>
              </a:rPr>
              <a:t>Project  Presentation</a:t>
            </a:r>
            <a:br>
              <a:rPr lang="en-US">
                <a:latin typeface="Times New Roman"/>
                <a:ea typeface="Times New Roman"/>
                <a:cs typeface="Times New Roman"/>
                <a:sym typeface="Times New Roman"/>
              </a:rPr>
            </a:br>
            <a:r>
              <a:rPr lang="en-US" sz="1800">
                <a:latin typeface="Times New Roman"/>
                <a:ea typeface="Times New Roman"/>
                <a:cs typeface="Times New Roman"/>
                <a:sym typeface="Times New Roman"/>
              </a:rPr>
              <a:t>(For Topic Finalization)</a:t>
            </a:r>
            <a:endParaRPr sz="1800">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4400"/>
              <a:buFont typeface="Calibri"/>
              <a:buNone/>
            </a:pPr>
            <a:br>
              <a:rPr lang="en-US" sz="1800">
                <a:latin typeface="Times New Roman"/>
                <a:ea typeface="Times New Roman"/>
                <a:cs typeface="Times New Roman"/>
                <a:sym typeface="Times New Roman"/>
              </a:rPr>
            </a:br>
            <a:r>
              <a:rPr b="1" lang="en-US" sz="2400">
                <a:latin typeface="Times New Roman"/>
                <a:ea typeface="Times New Roman"/>
                <a:cs typeface="Times New Roman"/>
                <a:sym typeface="Times New Roman"/>
              </a:rPr>
              <a:t>An Autonomous AI Agent Capable of Creating, Testing and Integrating Its Own Tools </a:t>
            </a:r>
            <a:endParaRPr>
              <a:latin typeface="Times New Roman"/>
              <a:ea typeface="Times New Roman"/>
              <a:cs typeface="Times New Roman"/>
              <a:sym typeface="Times New Roman"/>
            </a:endParaRPr>
          </a:p>
        </p:txBody>
      </p:sp>
      <p:pic>
        <p:nvPicPr>
          <p:cNvPr id="85" name="Google Shape;85;p1"/>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
        <p:nvSpPr>
          <p:cNvPr id="86" name="Google Shape;86;p1"/>
          <p:cNvSpPr txBox="1"/>
          <p:nvPr/>
        </p:nvSpPr>
        <p:spPr>
          <a:xfrm>
            <a:off x="685800" y="2905650"/>
            <a:ext cx="7772400" cy="677100"/>
          </a:xfrm>
          <a:prstGeom prst="rect">
            <a:avLst/>
          </a:prstGeom>
          <a:noFill/>
          <a:ln>
            <a:noFill/>
          </a:ln>
        </p:spPr>
        <p:txBody>
          <a:bodyPr anchorCtr="0" anchor="ctr" bIns="91425" lIns="91425" spcFirstLastPara="1" rIns="91425" wrap="square" tIns="91425">
            <a:spAutoFit/>
          </a:bodyPr>
          <a:lstStyle/>
          <a:p>
            <a:pPr indent="0" lvl="0" marL="3200400" marR="0" rtl="0" algn="l">
              <a:lnSpc>
                <a:spcPct val="100000"/>
              </a:lnSpc>
              <a:spcBef>
                <a:spcPts val="0"/>
              </a:spcBef>
              <a:spcAft>
                <a:spcPts val="0"/>
              </a:spcAft>
              <a:buClr>
                <a:schemeClr val="dk1"/>
              </a:buClr>
              <a:buSzPts val="4400"/>
              <a:buFont typeface="Calibri"/>
              <a:buNone/>
            </a:pPr>
            <a:r>
              <a:t/>
            </a:r>
            <a:endParaRPr b="0" i="0" sz="3200" u="none" cap="none" strike="noStrike">
              <a:solidFill>
                <a:schemeClr val="dk1"/>
              </a:solidFill>
              <a:latin typeface="Calibri"/>
              <a:ea typeface="Calibri"/>
              <a:cs typeface="Calibri"/>
              <a:sym typeface="Calibri"/>
            </a:endParaRPr>
          </a:p>
        </p:txBody>
      </p:sp>
      <p:sp>
        <p:nvSpPr>
          <p:cNvPr id="87" name="Google Shape;87;p1"/>
          <p:cNvSpPr txBox="1"/>
          <p:nvPr/>
        </p:nvSpPr>
        <p:spPr>
          <a:xfrm>
            <a:off x="686576" y="3317100"/>
            <a:ext cx="7772400" cy="1939500"/>
          </a:xfrm>
          <a:prstGeom prst="rect">
            <a:avLst/>
          </a:prstGeom>
          <a:noFill/>
          <a:ln>
            <a:noFill/>
          </a:ln>
        </p:spPr>
        <p:txBody>
          <a:bodyPr anchorCtr="0" anchor="t" bIns="91425" lIns="91425" spcFirstLastPara="1" rIns="91425" wrap="square" tIns="91425">
            <a:spAutoFit/>
          </a:bodyPr>
          <a:lstStyle/>
          <a:p>
            <a:pPr indent="0" lvl="0" marL="2743200" marR="0" rtl="0" algn="just">
              <a:lnSpc>
                <a:spcPct val="100000"/>
              </a:lnSpc>
              <a:spcBef>
                <a:spcPts val="0"/>
              </a:spcBef>
              <a:spcAft>
                <a:spcPts val="0"/>
              </a:spcAft>
              <a:buClr>
                <a:srgbClr val="000000"/>
              </a:buClr>
              <a:buSzPts val="2700"/>
              <a:buFont typeface="Arial"/>
              <a:buNone/>
            </a:pPr>
            <a:r>
              <a:rPr i="0" lang="en-US" sz="2700" u="none" cap="none" strike="noStrike">
                <a:solidFill>
                  <a:schemeClr val="dk1"/>
                </a:solidFill>
                <a:latin typeface="Times New Roman"/>
                <a:ea typeface="Times New Roman"/>
                <a:cs typeface="Times New Roman"/>
                <a:sym typeface="Times New Roman"/>
              </a:rPr>
              <a:t>Group ID:05</a:t>
            </a:r>
            <a:endParaRPr i="0" sz="2700" u="none" cap="none" strike="noStrike">
              <a:solidFill>
                <a:schemeClr val="dk1"/>
              </a:solidFill>
              <a:latin typeface="Times New Roman"/>
              <a:ea typeface="Times New Roman"/>
              <a:cs typeface="Times New Roman"/>
              <a:sym typeface="Times New Roman"/>
            </a:endParaRPr>
          </a:p>
          <a:p>
            <a:pPr indent="0" lvl="0" marL="2743200" marR="0" rtl="0" algn="l">
              <a:lnSpc>
                <a:spcPct val="100000"/>
              </a:lnSpc>
              <a:spcBef>
                <a:spcPts val="0"/>
              </a:spcBef>
              <a:spcAft>
                <a:spcPts val="0"/>
              </a:spcAft>
              <a:buClr>
                <a:srgbClr val="000000"/>
              </a:buClr>
              <a:buSzPts val="2700"/>
              <a:buFont typeface="Arial"/>
              <a:buNone/>
            </a:pPr>
            <a:r>
              <a:rPr i="0" lang="en-US" sz="2700" u="none" cap="none" strike="noStrike">
                <a:solidFill>
                  <a:schemeClr val="dk1"/>
                </a:solidFill>
                <a:latin typeface="Times New Roman"/>
                <a:ea typeface="Times New Roman"/>
                <a:cs typeface="Times New Roman"/>
                <a:sym typeface="Times New Roman"/>
              </a:rPr>
              <a:t>Group Members:</a:t>
            </a:r>
            <a:endParaRPr i="0" sz="2700" u="none" cap="none" strike="noStrike">
              <a:solidFill>
                <a:schemeClr val="dk1"/>
              </a:solidFill>
              <a:latin typeface="Times New Roman"/>
              <a:ea typeface="Times New Roman"/>
              <a:cs typeface="Times New Roman"/>
              <a:sym typeface="Times New Roman"/>
            </a:endParaRPr>
          </a:p>
          <a:p>
            <a:pPr indent="-355600" lvl="0" marL="3200400" marR="0" rtl="0" algn="l">
              <a:lnSpc>
                <a:spcPct val="100000"/>
              </a:lnSpc>
              <a:spcBef>
                <a:spcPts val="0"/>
              </a:spcBef>
              <a:spcAft>
                <a:spcPts val="0"/>
              </a:spcAft>
              <a:buClr>
                <a:schemeClr val="dk1"/>
              </a:buClr>
              <a:buSzPts val="2000"/>
              <a:buFont typeface="Times New Roman"/>
              <a:buAutoNum type="arabicPeriod"/>
            </a:pPr>
            <a:r>
              <a:rPr i="0" lang="en-US" sz="2000" u="none" cap="none" strike="noStrike">
                <a:solidFill>
                  <a:schemeClr val="dk1"/>
                </a:solidFill>
                <a:latin typeface="Times New Roman"/>
                <a:ea typeface="Times New Roman"/>
                <a:cs typeface="Times New Roman"/>
                <a:sym typeface="Times New Roman"/>
              </a:rPr>
              <a:t>Apurva Patil</a:t>
            </a:r>
            <a:endParaRPr i="0" sz="2000" u="none" cap="none" strike="noStrike">
              <a:solidFill>
                <a:schemeClr val="dk1"/>
              </a:solidFill>
              <a:latin typeface="Times New Roman"/>
              <a:ea typeface="Times New Roman"/>
              <a:cs typeface="Times New Roman"/>
              <a:sym typeface="Times New Roman"/>
            </a:endParaRPr>
          </a:p>
          <a:p>
            <a:pPr indent="-355600" lvl="0" marL="3200400" marR="0" rtl="0" algn="l">
              <a:lnSpc>
                <a:spcPct val="100000"/>
              </a:lnSpc>
              <a:spcBef>
                <a:spcPts val="0"/>
              </a:spcBef>
              <a:spcAft>
                <a:spcPts val="0"/>
              </a:spcAft>
              <a:buClr>
                <a:schemeClr val="dk1"/>
              </a:buClr>
              <a:buSzPts val="2000"/>
              <a:buFont typeface="Times New Roman"/>
              <a:buAutoNum type="arabicPeriod"/>
            </a:pPr>
            <a:r>
              <a:rPr i="0" lang="en-US" sz="2000" u="none" cap="none" strike="noStrike">
                <a:solidFill>
                  <a:schemeClr val="dk1"/>
                </a:solidFill>
                <a:latin typeface="Times New Roman"/>
                <a:ea typeface="Times New Roman"/>
                <a:cs typeface="Times New Roman"/>
                <a:sym typeface="Times New Roman"/>
              </a:rPr>
              <a:t>Toshal Zambare</a:t>
            </a:r>
            <a:endParaRPr i="0" sz="2000" u="none" cap="none" strike="noStrike">
              <a:solidFill>
                <a:schemeClr val="dk1"/>
              </a:solidFill>
              <a:latin typeface="Times New Roman"/>
              <a:ea typeface="Times New Roman"/>
              <a:cs typeface="Times New Roman"/>
              <a:sym typeface="Times New Roman"/>
            </a:endParaRPr>
          </a:p>
          <a:p>
            <a:pPr indent="-355600" lvl="0" marL="3200400" marR="0" rtl="0" algn="l">
              <a:lnSpc>
                <a:spcPct val="100000"/>
              </a:lnSpc>
              <a:spcBef>
                <a:spcPts val="0"/>
              </a:spcBef>
              <a:spcAft>
                <a:spcPts val="0"/>
              </a:spcAft>
              <a:buClr>
                <a:schemeClr val="dk1"/>
              </a:buClr>
              <a:buSzPts val="2000"/>
              <a:buFont typeface="Times New Roman"/>
              <a:buAutoNum type="arabicPeriod"/>
            </a:pPr>
            <a:r>
              <a:rPr i="0" lang="en-US" sz="2000" u="none" cap="none" strike="noStrike">
                <a:solidFill>
                  <a:schemeClr val="dk1"/>
                </a:solidFill>
                <a:latin typeface="Times New Roman"/>
                <a:ea typeface="Times New Roman"/>
                <a:cs typeface="Times New Roman"/>
                <a:sym typeface="Times New Roman"/>
              </a:rPr>
              <a:t>Sarthak Nalawade</a:t>
            </a:r>
            <a:endParaRPr i="0" sz="1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idx="1" type="body"/>
          </p:nvPr>
        </p:nvSpPr>
        <p:spPr>
          <a:xfrm>
            <a:off x="457200" y="476250"/>
            <a:ext cx="8229600" cy="4572000"/>
          </a:xfrm>
          <a:prstGeom prst="rect">
            <a:avLst/>
          </a:prstGeom>
          <a:solidFill>
            <a:srgbClr val="000000">
              <a:alpha val="0"/>
            </a:srgbClr>
          </a:solidFill>
          <a:ln>
            <a:noFill/>
          </a:ln>
        </p:spPr>
        <p:txBody>
          <a:bodyPr anchorCtr="0" anchor="t" bIns="95250" lIns="95250" spcFirstLastPara="1" rIns="95250" wrap="square" tIns="95250">
            <a:normAutofit/>
          </a:bodyPr>
          <a:lstStyle/>
          <a:p>
            <a:pPr indent="0" lvl="0" marL="0" rtl="0" algn="l">
              <a:spcBef>
                <a:spcPts val="360"/>
              </a:spcBef>
              <a:spcAft>
                <a:spcPts val="0"/>
              </a:spcAft>
              <a:buNone/>
            </a:pPr>
            <a:r>
              <a:rPr b="1" lang="en-US" sz="3200">
                <a:solidFill>
                  <a:srgbClr val="000000"/>
                </a:solidFill>
                <a:latin typeface="Times New Roman"/>
                <a:ea typeface="Times New Roman"/>
                <a:cs typeface="Times New Roman"/>
                <a:sym typeface="Times New Roman"/>
              </a:rPr>
              <a:t>Abstract</a:t>
            </a:r>
            <a:endParaRPr b="1" sz="3200">
              <a:solidFill>
                <a:srgbClr val="000000"/>
              </a:solidFill>
              <a:latin typeface="Times New Roman"/>
              <a:ea typeface="Times New Roman"/>
              <a:cs typeface="Times New Roman"/>
              <a:sym typeface="Times New Roman"/>
            </a:endParaRPr>
          </a:p>
          <a:p>
            <a:pPr indent="0" lvl="0" marL="0" rtl="0" algn="just">
              <a:spcBef>
                <a:spcPts val="1500"/>
              </a:spcBef>
              <a:spcAft>
                <a:spcPts val="0"/>
              </a:spcAft>
              <a:buNone/>
            </a:pPr>
            <a:r>
              <a:rPr lang="en-US" sz="1400">
                <a:solidFill>
                  <a:srgbClr val="333333"/>
                </a:solidFill>
                <a:latin typeface="Times New Roman"/>
                <a:ea typeface="Times New Roman"/>
                <a:cs typeface="Times New Roman"/>
                <a:sym typeface="Times New Roman"/>
              </a:rPr>
              <a:t>Most existing AI agents depend on predefined tools, limiting their autonomy and scalability. When encountering unsupported APIs or services, manual developer intervention is typically required. This project proposes a </a:t>
            </a:r>
            <a:r>
              <a:rPr b="1" lang="en-US" sz="1400">
                <a:solidFill>
                  <a:srgbClr val="000000"/>
                </a:solidFill>
                <a:latin typeface="Times New Roman"/>
                <a:ea typeface="Times New Roman"/>
                <a:cs typeface="Times New Roman"/>
                <a:sym typeface="Times New Roman"/>
              </a:rPr>
              <a:t>Self-Forging AI Agent</a:t>
            </a:r>
            <a:r>
              <a:rPr lang="en-US" sz="1400">
                <a:solidFill>
                  <a:srgbClr val="333333"/>
                </a:solidFill>
                <a:latin typeface="Times New Roman"/>
                <a:ea typeface="Times New Roman"/>
                <a:cs typeface="Times New Roman"/>
                <a:sym typeface="Times New Roman"/>
              </a:rPr>
              <a:t> capable of dynamically creating, testing, repairing, and integrating its own tools at runtime with minimal human effort.The framework leverages a coding-capable </a:t>
            </a:r>
            <a:r>
              <a:rPr b="1" lang="en-US" sz="1400">
                <a:solidFill>
                  <a:srgbClr val="000000"/>
                </a:solidFill>
                <a:latin typeface="Times New Roman"/>
                <a:ea typeface="Times New Roman"/>
                <a:cs typeface="Times New Roman"/>
                <a:sym typeface="Times New Roman"/>
              </a:rPr>
              <a:t>Large Language Model (LLM)</a:t>
            </a:r>
            <a:r>
              <a:rPr lang="en-US" sz="1400">
                <a:solidFill>
                  <a:srgbClr val="333333"/>
                </a:solidFill>
                <a:latin typeface="Times New Roman"/>
                <a:ea typeface="Times New Roman"/>
                <a:cs typeface="Times New Roman"/>
                <a:sym typeface="Times New Roman"/>
              </a:rPr>
              <a:t> as its central intelligence. When a new capability is needed, the agent generates the tool, executes and validates it within a secure </a:t>
            </a:r>
            <a:r>
              <a:rPr b="1" lang="en-US" sz="1400">
                <a:solidFill>
                  <a:srgbClr val="000000"/>
                </a:solidFill>
                <a:latin typeface="Times New Roman"/>
                <a:ea typeface="Times New Roman"/>
                <a:cs typeface="Times New Roman"/>
                <a:sym typeface="Times New Roman"/>
              </a:rPr>
              <a:t>Docker sandbox</a:t>
            </a:r>
            <a:r>
              <a:rPr lang="en-US" sz="1400">
                <a:solidFill>
                  <a:srgbClr val="333333"/>
                </a:solidFill>
                <a:latin typeface="Times New Roman"/>
                <a:ea typeface="Times New Roman"/>
                <a:cs typeface="Times New Roman"/>
                <a:sym typeface="Times New Roman"/>
              </a:rPr>
              <a:t>, automatically repairs errors, and registers the verified capability using the </a:t>
            </a:r>
            <a:r>
              <a:rPr b="1" lang="en-US" sz="1400">
                <a:solidFill>
                  <a:srgbClr val="000000"/>
                </a:solidFill>
                <a:latin typeface="Times New Roman"/>
                <a:ea typeface="Times New Roman"/>
                <a:cs typeface="Times New Roman"/>
                <a:sym typeface="Times New Roman"/>
              </a:rPr>
              <a:t>Model Context Protocol (MCP)</a:t>
            </a:r>
            <a:r>
              <a:rPr lang="en-US" sz="1400">
                <a:solidFill>
                  <a:srgbClr val="333333"/>
                </a:solidFill>
                <a:latin typeface="Times New Roman"/>
                <a:ea typeface="Times New Roman"/>
                <a:cs typeface="Times New Roman"/>
                <a:sym typeface="Times New Roman"/>
              </a:rPr>
              <a:t>. This newly created tool is then stored for future tasks, allowing the agent to progressively expand its capabilities.This approach significantly reduces manual development overhead while dramatically enhancing the </a:t>
            </a:r>
            <a:r>
              <a:rPr b="1" lang="en-US" sz="1400">
                <a:solidFill>
                  <a:srgbClr val="000000"/>
                </a:solidFill>
                <a:latin typeface="Times New Roman"/>
                <a:ea typeface="Times New Roman"/>
                <a:cs typeface="Times New Roman"/>
                <a:sym typeface="Times New Roman"/>
              </a:rPr>
              <a:t>adaptability, scalability, and autonomy</a:t>
            </a:r>
            <a:r>
              <a:rPr lang="en-US" sz="1400">
                <a:solidFill>
                  <a:srgbClr val="333333"/>
                </a:solidFill>
                <a:latin typeface="Times New Roman"/>
                <a:ea typeface="Times New Roman"/>
                <a:cs typeface="Times New Roman"/>
                <a:sym typeface="Times New Roman"/>
              </a:rPr>
              <a:t> of AI agents in dynamic software environments.</a:t>
            </a:r>
            <a:endParaRPr sz="1400">
              <a:solidFill>
                <a:srgbClr val="333333"/>
              </a:solidFill>
              <a:latin typeface="Times New Roman"/>
              <a:ea typeface="Times New Roman"/>
              <a:cs typeface="Times New Roman"/>
              <a:sym typeface="Times New Roman"/>
            </a:endParaRPr>
          </a:p>
          <a:p>
            <a:pPr indent="0" lvl="0" marL="0" rtl="0" algn="just">
              <a:spcBef>
                <a:spcPts val="900"/>
              </a:spcBef>
              <a:spcAft>
                <a:spcPts val="1800"/>
              </a:spcAft>
              <a:buNone/>
            </a:pPr>
            <a:r>
              <a:rPr b="1" lang="en-US" sz="1400">
                <a:solidFill>
                  <a:srgbClr val="000000"/>
                </a:solidFill>
                <a:latin typeface="Times New Roman"/>
                <a:ea typeface="Times New Roman"/>
                <a:cs typeface="Times New Roman"/>
                <a:sym typeface="Times New Roman"/>
              </a:rPr>
              <a:t>Keywords:</a:t>
            </a:r>
            <a:r>
              <a:rPr lang="en-US" sz="1400">
                <a:solidFill>
                  <a:srgbClr val="555555"/>
                </a:solidFill>
                <a:latin typeface="Times New Roman"/>
                <a:ea typeface="Times New Roman"/>
                <a:cs typeface="Times New Roman"/>
                <a:sym typeface="Times New Roman"/>
              </a:rPr>
              <a:t> Self-Forging AI Agent • Large Language Model (LLM) • Docker Sandbox • Model Context Protocol (MCP) • Autonomy • Dynamic Tool Creation</a:t>
            </a:r>
            <a:endParaRPr sz="1400">
              <a:solidFill>
                <a:srgbClr val="555555"/>
              </a:solidFill>
              <a:latin typeface="Times New Roman"/>
              <a:ea typeface="Times New Roman"/>
              <a:cs typeface="Times New Roman"/>
              <a:sym typeface="Times New Roman"/>
            </a:endParaRPr>
          </a:p>
        </p:txBody>
      </p:sp>
      <p:pic>
        <p:nvPicPr>
          <p:cNvPr id="93" name="Google Shape;93;p2"/>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body"/>
          </p:nvPr>
        </p:nvSpPr>
        <p:spPr>
          <a:xfrm>
            <a:off x="457200" y="673100"/>
            <a:ext cx="8229600" cy="4289100"/>
          </a:xfrm>
          <a:prstGeom prst="rect">
            <a:avLst/>
          </a:prstGeom>
          <a:solidFill>
            <a:srgbClr val="000000">
              <a:alpha val="0"/>
            </a:srgbClr>
          </a:solidFill>
          <a:ln>
            <a:noFill/>
          </a:ln>
        </p:spPr>
        <p:txBody>
          <a:bodyPr anchorCtr="0" anchor="t" bIns="95250" lIns="95250" spcFirstLastPara="1" rIns="95250" wrap="square" tIns="95250">
            <a:normAutofit/>
          </a:bodyPr>
          <a:lstStyle/>
          <a:p>
            <a:pPr indent="0" lvl="0" marL="0" rtl="0" algn="l">
              <a:spcBef>
                <a:spcPts val="360"/>
              </a:spcBef>
              <a:spcAft>
                <a:spcPts val="0"/>
              </a:spcAft>
              <a:buNone/>
            </a:pPr>
            <a:r>
              <a:rPr b="1" lang="en-US" sz="3200">
                <a:solidFill>
                  <a:srgbClr val="000000"/>
                </a:solidFill>
                <a:latin typeface="Times New Roman"/>
                <a:ea typeface="Times New Roman"/>
                <a:cs typeface="Times New Roman"/>
                <a:sym typeface="Times New Roman"/>
              </a:rPr>
              <a:t>Introduction</a:t>
            </a:r>
            <a:endParaRPr b="1" sz="3200">
              <a:solidFill>
                <a:srgbClr val="000000"/>
              </a:solidFill>
              <a:latin typeface="Times New Roman"/>
              <a:ea typeface="Times New Roman"/>
              <a:cs typeface="Times New Roman"/>
              <a:sym typeface="Times New Roman"/>
            </a:endParaRPr>
          </a:p>
          <a:p>
            <a:pPr indent="0" lvl="0" marL="0" rtl="0" algn="just">
              <a:spcBef>
                <a:spcPts val="1500"/>
              </a:spcBef>
              <a:spcAft>
                <a:spcPts val="0"/>
              </a:spcAft>
              <a:buNone/>
            </a:pPr>
            <a:r>
              <a:rPr lang="en-US" sz="1400">
                <a:latin typeface="Times New Roman"/>
                <a:ea typeface="Times New Roman"/>
                <a:cs typeface="Times New Roman"/>
                <a:sym typeface="Times New Roman"/>
              </a:rPr>
              <a:t>Modern AI agents powered by </a:t>
            </a:r>
            <a:r>
              <a:rPr b="1" lang="en-US" sz="1400">
                <a:latin typeface="Times New Roman"/>
                <a:ea typeface="Times New Roman"/>
                <a:cs typeface="Times New Roman"/>
                <a:sym typeface="Times New Roman"/>
              </a:rPr>
              <a:t>Large Language Models (LLMs)</a:t>
            </a:r>
            <a:r>
              <a:rPr lang="en-US" sz="1400">
                <a:latin typeface="Times New Roman"/>
                <a:ea typeface="Times New Roman"/>
                <a:cs typeface="Times New Roman"/>
                <a:sym typeface="Times New Roman"/>
              </a:rPr>
              <a:t> can reason about complex user requests and interact with external systems through APIs, databases, and software services. However, traditional agents typically operate within a </a:t>
            </a:r>
            <a:r>
              <a:rPr b="1" lang="en-US" sz="1400">
                <a:latin typeface="Times New Roman"/>
                <a:ea typeface="Times New Roman"/>
                <a:cs typeface="Times New Roman"/>
                <a:sym typeface="Times New Roman"/>
              </a:rPr>
              <a:t>predefined collection of tools</a:t>
            </a:r>
            <a:r>
              <a:rPr lang="en-US" sz="1400">
                <a:latin typeface="Times New Roman"/>
                <a:ea typeface="Times New Roman"/>
                <a:cs typeface="Times New Roman"/>
                <a:sym typeface="Times New Roman"/>
              </a:rPr>
              <a:t> created by developers. When a required capability is missing, these systems inevitably fail to complete tasks without manual human development and integration. To overcome this limitation, the proposed </a:t>
            </a:r>
            <a:r>
              <a:rPr b="1" lang="en-US" sz="1400">
                <a:latin typeface="Times New Roman"/>
                <a:ea typeface="Times New Roman"/>
                <a:cs typeface="Times New Roman"/>
                <a:sym typeface="Times New Roman"/>
              </a:rPr>
              <a:t>Self-Forging AI Agent</a:t>
            </a:r>
            <a:r>
              <a:rPr lang="en-US" sz="1400">
                <a:latin typeface="Times New Roman"/>
                <a:ea typeface="Times New Roman"/>
                <a:cs typeface="Times New Roman"/>
                <a:sym typeface="Times New Roman"/>
              </a:rPr>
              <a:t> framework extends the conventional paradigm by </a:t>
            </a:r>
            <a:r>
              <a:rPr b="1" lang="en-US" sz="1400">
                <a:latin typeface="Times New Roman"/>
                <a:ea typeface="Times New Roman"/>
                <a:cs typeface="Times New Roman"/>
                <a:sym typeface="Times New Roman"/>
              </a:rPr>
              <a:t>dynamically constructing new tools</a:t>
            </a:r>
            <a:r>
              <a:rPr lang="en-US" sz="1400">
                <a:latin typeface="Times New Roman"/>
                <a:ea typeface="Times New Roman"/>
                <a:cs typeface="Times New Roman"/>
                <a:sym typeface="Times New Roman"/>
              </a:rPr>
              <a:t> on demand according to real-time task requirements. Instead of merely selecting from an existing static library, this autonomous system dynamically identifies missing capabilities, designs the necessary interface, </a:t>
            </a:r>
            <a:r>
              <a:rPr b="1" lang="en-US" sz="1400">
                <a:latin typeface="Times New Roman"/>
                <a:ea typeface="Times New Roman"/>
                <a:cs typeface="Times New Roman"/>
                <a:sym typeface="Times New Roman"/>
              </a:rPr>
              <a:t>generates executable Python code</a:t>
            </a:r>
            <a:r>
              <a:rPr lang="en-US" sz="1400">
                <a:latin typeface="Times New Roman"/>
                <a:ea typeface="Times New Roman"/>
                <a:cs typeface="Times New Roman"/>
                <a:sym typeface="Times New Roman"/>
              </a:rPr>
              <a:t>, validates it within a secure, </a:t>
            </a:r>
            <a:r>
              <a:rPr b="1" lang="en-US" sz="1400">
                <a:latin typeface="Times New Roman"/>
                <a:ea typeface="Times New Roman"/>
                <a:cs typeface="Times New Roman"/>
                <a:sym typeface="Times New Roman"/>
              </a:rPr>
              <a:t>isolated Docker sandbox</a:t>
            </a:r>
            <a:r>
              <a:rPr lang="en-US" sz="1400">
                <a:latin typeface="Times New Roman"/>
                <a:ea typeface="Times New Roman"/>
                <a:cs typeface="Times New Roman"/>
                <a:sym typeface="Times New Roman"/>
              </a:rPr>
              <a:t>, automatically repairs any runtime errors, and registers verified implementations. This continuous closed-loop cycle of </a:t>
            </a:r>
            <a:r>
              <a:rPr b="1" lang="en-US" sz="1400">
                <a:latin typeface="Times New Roman"/>
                <a:ea typeface="Times New Roman"/>
                <a:cs typeface="Times New Roman"/>
                <a:sym typeface="Times New Roman"/>
              </a:rPr>
              <a:t>reasoning, tool creation, validation, execution, and persistent reuse</a:t>
            </a:r>
            <a:r>
              <a:rPr lang="en-US" sz="1400">
                <a:latin typeface="Times New Roman"/>
                <a:ea typeface="Times New Roman"/>
                <a:cs typeface="Times New Roman"/>
                <a:sym typeface="Times New Roman"/>
              </a:rPr>
              <a:t> eliminates manual development overhead, dramatically enhances scalability, and moves AI agents toward truly adaptive and </a:t>
            </a:r>
            <a:r>
              <a:rPr b="1" lang="en-US" sz="1400">
                <a:latin typeface="Times New Roman"/>
                <a:ea typeface="Times New Roman"/>
                <a:cs typeface="Times New Roman"/>
                <a:sym typeface="Times New Roman"/>
              </a:rPr>
              <a:t>self-expanding intelligent systems</a:t>
            </a:r>
            <a:r>
              <a:rPr lang="en-US"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p:txBody>
      </p:sp>
      <p:pic>
        <p:nvPicPr>
          <p:cNvPr id="99" name="Google Shape;99;p3"/>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idx="1" type="body"/>
          </p:nvPr>
        </p:nvSpPr>
        <p:spPr>
          <a:xfrm>
            <a:off x="458000" y="559700"/>
            <a:ext cx="8218800" cy="418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lang="en-US">
                <a:latin typeface="Times New Roman"/>
                <a:ea typeface="Times New Roman"/>
                <a:cs typeface="Times New Roman"/>
                <a:sym typeface="Times New Roman"/>
              </a:rPr>
              <a:t>Problem Statement</a:t>
            </a:r>
            <a:endParaRPr b="1">
              <a:latin typeface="Times New Roman"/>
              <a:ea typeface="Times New Roman"/>
              <a:cs typeface="Times New Roman"/>
              <a:sym typeface="Times New Roman"/>
            </a:endParaRPr>
          </a:p>
          <a:p>
            <a:pPr indent="0" lvl="0" marL="0" rtl="0" algn="l">
              <a:lnSpc>
                <a:spcPct val="100000"/>
              </a:lnSpc>
              <a:spcBef>
                <a:spcPts val="0"/>
              </a:spcBef>
              <a:spcAft>
                <a:spcPts val="0"/>
              </a:spcAft>
              <a:buSzPts val="1800"/>
              <a:buNone/>
            </a:pPr>
            <a:r>
              <a:t/>
            </a:r>
            <a:endParaRPr sz="3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400">
                <a:latin typeface="Times New Roman"/>
                <a:ea typeface="Times New Roman"/>
                <a:cs typeface="Times New Roman"/>
                <a:sym typeface="Times New Roman"/>
              </a:rPr>
              <a:t>Current AI agent systems largely depend on </a:t>
            </a:r>
            <a:r>
              <a:rPr b="1" lang="en-US" sz="1400">
                <a:latin typeface="Times New Roman"/>
                <a:ea typeface="Times New Roman"/>
                <a:cs typeface="Times New Roman"/>
                <a:sym typeface="Times New Roman"/>
              </a:rPr>
              <a:t>fixed and predefined tool libraries</a:t>
            </a:r>
            <a:r>
              <a:rPr lang="en-US" sz="1400">
                <a:latin typeface="Times New Roman"/>
                <a:ea typeface="Times New Roman"/>
                <a:cs typeface="Times New Roman"/>
                <a:sym typeface="Times New Roman"/>
              </a:rPr>
              <a:t> to interact with APIs, databases, and external services. When an unsupported system or new capability is encountered, developers must manually design and integrate the required tools, increasing development effort and limiting agent adaptability. Although LLMs can dynamically generate code, such code may contain </a:t>
            </a:r>
            <a:r>
              <a:rPr b="1" lang="en-US" sz="1400">
                <a:latin typeface="Times New Roman"/>
                <a:ea typeface="Times New Roman"/>
                <a:cs typeface="Times New Roman"/>
                <a:sym typeface="Times New Roman"/>
              </a:rPr>
              <a:t>syntax, logical, interface, or runtime errors</a:t>
            </a:r>
            <a:r>
              <a:rPr lang="en-US" sz="1400">
                <a:latin typeface="Times New Roman"/>
                <a:ea typeface="Times New Roman"/>
                <a:cs typeface="Times New Roman"/>
                <a:sym typeface="Times New Roman"/>
              </a:rPr>
              <a:t>, making one-shot tool generation unreliable. Furthermore, dynamically generated tools must be safely tested and validated before execution, while many existing approaches create temporary task-specific scripts rather than persistent and reusable capabilities.</a:t>
            </a:r>
            <a:endParaRPr sz="14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en-US" sz="1400">
                <a:latin typeface="Times New Roman"/>
                <a:ea typeface="Times New Roman"/>
                <a:cs typeface="Times New Roman"/>
                <a:sym typeface="Times New Roman"/>
              </a:rPr>
              <a:t>Therefore, there is a need for a self-forging AI agent that can autonomously identify missing capabilities, generate the required tools, securely test and repair them, and permanently integrate validated tools for reuse in future tasks with minimal human intervention</a:t>
            </a:r>
            <a:r>
              <a:rPr b="1" lang="en-US" sz="1308">
                <a:latin typeface="Times New Roman"/>
                <a:ea typeface="Times New Roman"/>
                <a:cs typeface="Times New Roman"/>
                <a:sym typeface="Times New Roman"/>
              </a:rPr>
              <a:t>.</a:t>
            </a:r>
            <a:endParaRPr b="1" sz="1308">
              <a:latin typeface="Times New Roman"/>
              <a:ea typeface="Times New Roman"/>
              <a:cs typeface="Times New Roman"/>
              <a:sym typeface="Times New Roman"/>
            </a:endParaRPr>
          </a:p>
          <a:p>
            <a:pPr indent="0" lvl="0" marL="0" rtl="0" algn="l">
              <a:lnSpc>
                <a:spcPct val="100000"/>
              </a:lnSpc>
              <a:spcBef>
                <a:spcPts val="1200"/>
              </a:spcBef>
              <a:spcAft>
                <a:spcPts val="0"/>
              </a:spcAft>
              <a:buSzPts val="1800"/>
              <a:buNone/>
            </a:pPr>
            <a:r>
              <a:t/>
            </a:r>
            <a:endParaRPr/>
          </a:p>
        </p:txBody>
      </p:sp>
      <p:pic>
        <p:nvPicPr>
          <p:cNvPr id="105" name="Google Shape;105;p4"/>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idx="1" type="body"/>
          </p:nvPr>
        </p:nvSpPr>
        <p:spPr>
          <a:xfrm>
            <a:off x="441475" y="577025"/>
            <a:ext cx="8239800" cy="4917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lang="en-US">
                <a:latin typeface="Times New Roman"/>
                <a:ea typeface="Times New Roman"/>
                <a:cs typeface="Times New Roman"/>
                <a:sym typeface="Times New Roman"/>
              </a:rPr>
              <a:t>Objectives</a:t>
            </a:r>
            <a:endParaRPr b="1">
              <a:latin typeface="Times New Roman"/>
              <a:ea typeface="Times New Roman"/>
              <a:cs typeface="Times New Roman"/>
              <a:sym typeface="Times New Roman"/>
            </a:endParaRPr>
          </a:p>
          <a:p>
            <a:pPr indent="0" lvl="0" marL="457200" rtl="0" algn="l">
              <a:lnSpc>
                <a:spcPct val="100000"/>
              </a:lnSpc>
              <a:spcBef>
                <a:spcPts val="0"/>
              </a:spcBef>
              <a:spcAft>
                <a:spcPts val="0"/>
              </a:spcAft>
              <a:buSzPts val="1800"/>
              <a:buNone/>
            </a:pPr>
            <a:r>
              <a:t/>
            </a:r>
            <a:endParaRPr sz="1300">
              <a:latin typeface="Times New Roman"/>
              <a:ea typeface="Times New Roman"/>
              <a:cs typeface="Times New Roman"/>
              <a:sym typeface="Times New Roman"/>
            </a:endParaRPr>
          </a:p>
          <a:p>
            <a:pPr indent="-317500" lvl="0" marL="342900" rtl="0" algn="l">
              <a:lnSpc>
                <a:spcPct val="150000"/>
              </a:lnSpc>
              <a:spcBef>
                <a:spcPts val="0"/>
              </a:spcBef>
              <a:spcAft>
                <a:spcPts val="0"/>
              </a:spcAft>
              <a:buSzPts val="1400"/>
              <a:buFont typeface="Times New Roman"/>
              <a:buAutoNum type="arabicPeriod"/>
            </a:pPr>
            <a:r>
              <a:rPr lang="en-US" sz="1400">
                <a:latin typeface="Times New Roman"/>
                <a:ea typeface="Times New Roman"/>
                <a:cs typeface="Times New Roman"/>
                <a:sym typeface="Times New Roman"/>
              </a:rPr>
              <a:t>To identify whether the current tool library can satisfy a user's request.</a:t>
            </a:r>
            <a:endParaRPr sz="1400">
              <a:latin typeface="Times New Roman"/>
              <a:ea typeface="Times New Roman"/>
              <a:cs typeface="Times New Roman"/>
              <a:sym typeface="Times New Roman"/>
            </a:endParaRPr>
          </a:p>
          <a:p>
            <a:pPr indent="-317500" lvl="0" marL="342900" rtl="0" algn="l">
              <a:lnSpc>
                <a:spcPct val="150000"/>
              </a:lnSpc>
              <a:spcBef>
                <a:spcPts val="0"/>
              </a:spcBef>
              <a:spcAft>
                <a:spcPts val="0"/>
              </a:spcAft>
              <a:buSzPts val="1400"/>
              <a:buFont typeface="Calibri"/>
              <a:buAutoNum type="arabicPeriod"/>
            </a:pPr>
            <a:r>
              <a:rPr lang="en-US" sz="1400">
                <a:latin typeface="Times New Roman"/>
                <a:ea typeface="Times New Roman"/>
                <a:cs typeface="Times New Roman"/>
                <a:sym typeface="Times New Roman"/>
              </a:rPr>
              <a:t>To detect </a:t>
            </a:r>
            <a:r>
              <a:rPr b="1" lang="en-US" sz="1400">
                <a:latin typeface="Times New Roman"/>
                <a:ea typeface="Times New Roman"/>
                <a:cs typeface="Times New Roman"/>
                <a:sym typeface="Times New Roman"/>
              </a:rPr>
              <a:t>missing capabilities</a:t>
            </a:r>
            <a:r>
              <a:rPr lang="en-US" sz="1400">
                <a:latin typeface="Times New Roman"/>
                <a:ea typeface="Times New Roman"/>
                <a:cs typeface="Times New Roman"/>
                <a:sym typeface="Times New Roman"/>
              </a:rPr>
              <a:t> automatically.</a:t>
            </a:r>
            <a:endParaRPr sz="1400">
              <a:latin typeface="Times New Roman"/>
              <a:ea typeface="Times New Roman"/>
              <a:cs typeface="Times New Roman"/>
              <a:sym typeface="Times New Roman"/>
            </a:endParaRPr>
          </a:p>
          <a:p>
            <a:pPr indent="-317500" lvl="0" marL="342900" rtl="0" algn="l">
              <a:lnSpc>
                <a:spcPct val="150000"/>
              </a:lnSpc>
              <a:spcBef>
                <a:spcPts val="0"/>
              </a:spcBef>
              <a:spcAft>
                <a:spcPts val="0"/>
              </a:spcAft>
              <a:buSzPts val="1400"/>
              <a:buFont typeface="Times New Roman"/>
              <a:buAutoNum type="arabicPeriod"/>
            </a:pPr>
            <a:r>
              <a:rPr lang="en-US" sz="1400">
                <a:latin typeface="Times New Roman"/>
                <a:ea typeface="Times New Roman"/>
                <a:cs typeface="Times New Roman"/>
                <a:sym typeface="Times New Roman"/>
              </a:rPr>
              <a:t>To use an LLM to determine the functionality required from a new tool.</a:t>
            </a:r>
            <a:endParaRPr sz="1400">
              <a:latin typeface="Times New Roman"/>
              <a:ea typeface="Times New Roman"/>
              <a:cs typeface="Times New Roman"/>
              <a:sym typeface="Times New Roman"/>
            </a:endParaRPr>
          </a:p>
          <a:p>
            <a:pPr indent="-317500" lvl="0" marL="342900" rtl="0" algn="l">
              <a:lnSpc>
                <a:spcPct val="150000"/>
              </a:lnSpc>
              <a:spcBef>
                <a:spcPts val="0"/>
              </a:spcBef>
              <a:spcAft>
                <a:spcPts val="0"/>
              </a:spcAft>
              <a:buSzPts val="1400"/>
              <a:buFont typeface="Times New Roman"/>
              <a:buAutoNum type="arabicPeriod"/>
            </a:pPr>
            <a:r>
              <a:rPr lang="en-US" sz="1400">
                <a:latin typeface="Times New Roman"/>
                <a:ea typeface="Times New Roman"/>
                <a:cs typeface="Times New Roman"/>
                <a:sym typeface="Times New Roman"/>
              </a:rPr>
              <a:t>To dynamically generate executable Python tools.</a:t>
            </a:r>
            <a:endParaRPr sz="1400">
              <a:latin typeface="Times New Roman"/>
              <a:ea typeface="Times New Roman"/>
              <a:cs typeface="Times New Roman"/>
              <a:sym typeface="Times New Roman"/>
            </a:endParaRPr>
          </a:p>
          <a:p>
            <a:pPr indent="-317500" lvl="0" marL="342900" rtl="0" algn="l">
              <a:lnSpc>
                <a:spcPct val="150000"/>
              </a:lnSpc>
              <a:spcBef>
                <a:spcPts val="0"/>
              </a:spcBef>
              <a:spcAft>
                <a:spcPts val="0"/>
              </a:spcAft>
              <a:buSzPts val="1400"/>
              <a:buFont typeface="Times New Roman"/>
              <a:buAutoNum type="arabicPeriod"/>
            </a:pPr>
            <a:r>
              <a:rPr lang="en-US" sz="1400">
                <a:latin typeface="Times New Roman"/>
                <a:ea typeface="Times New Roman"/>
                <a:cs typeface="Times New Roman"/>
                <a:sym typeface="Times New Roman"/>
              </a:rPr>
              <a:t>To automatically construct appropriate tool interfaces and schemas.</a:t>
            </a:r>
            <a:endParaRPr sz="1400">
              <a:latin typeface="Times New Roman"/>
              <a:ea typeface="Times New Roman"/>
              <a:cs typeface="Times New Roman"/>
              <a:sym typeface="Times New Roman"/>
            </a:endParaRPr>
          </a:p>
          <a:p>
            <a:pPr indent="-317500" lvl="0" marL="342900" rtl="0" algn="l">
              <a:lnSpc>
                <a:spcPct val="150000"/>
              </a:lnSpc>
              <a:spcBef>
                <a:spcPts val="0"/>
              </a:spcBef>
              <a:spcAft>
                <a:spcPts val="0"/>
              </a:spcAft>
              <a:buSzPts val="1400"/>
              <a:buFont typeface="Calibri"/>
              <a:buAutoNum type="arabicPeriod"/>
            </a:pPr>
            <a:r>
              <a:rPr lang="en-US" sz="1400">
                <a:latin typeface="Times New Roman"/>
                <a:ea typeface="Times New Roman"/>
                <a:cs typeface="Times New Roman"/>
                <a:sym typeface="Times New Roman"/>
              </a:rPr>
              <a:t>To execute generated tools inside an </a:t>
            </a:r>
            <a:r>
              <a:rPr b="1" lang="en-US" sz="1400">
                <a:latin typeface="Times New Roman"/>
                <a:ea typeface="Times New Roman"/>
                <a:cs typeface="Times New Roman"/>
                <a:sym typeface="Times New Roman"/>
              </a:rPr>
              <a:t>isolated Docker sandbox</a:t>
            </a:r>
            <a:r>
              <a:rPr lang="en-US"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indent="-317500" lvl="0" marL="342900" rtl="0" algn="l">
              <a:lnSpc>
                <a:spcPct val="150000"/>
              </a:lnSpc>
              <a:spcBef>
                <a:spcPts val="0"/>
              </a:spcBef>
              <a:spcAft>
                <a:spcPts val="0"/>
              </a:spcAft>
              <a:buSzPts val="1400"/>
              <a:buFont typeface="Times New Roman"/>
              <a:buAutoNum type="arabicPeriod"/>
            </a:pPr>
            <a:r>
              <a:rPr lang="en-US" sz="1400">
                <a:latin typeface="Times New Roman"/>
                <a:ea typeface="Times New Roman"/>
                <a:cs typeface="Times New Roman"/>
                <a:sym typeface="Times New Roman"/>
              </a:rPr>
              <a:t>To automatically detect syntax, runtime, and functional errors.</a:t>
            </a:r>
            <a:endParaRPr sz="1400">
              <a:latin typeface="Times New Roman"/>
              <a:ea typeface="Times New Roman"/>
              <a:cs typeface="Times New Roman"/>
              <a:sym typeface="Times New Roman"/>
            </a:endParaRPr>
          </a:p>
          <a:p>
            <a:pPr indent="-317500" lvl="0" marL="342900" rtl="0" algn="l">
              <a:lnSpc>
                <a:spcPct val="150000"/>
              </a:lnSpc>
              <a:spcBef>
                <a:spcPts val="0"/>
              </a:spcBef>
              <a:spcAft>
                <a:spcPts val="0"/>
              </a:spcAft>
              <a:buSzPts val="1400"/>
              <a:buFont typeface="Calibri"/>
              <a:buAutoNum type="arabicPeriod"/>
            </a:pPr>
            <a:r>
              <a:rPr lang="en-US" sz="1400">
                <a:latin typeface="Times New Roman"/>
                <a:ea typeface="Times New Roman"/>
                <a:cs typeface="Times New Roman"/>
                <a:sym typeface="Times New Roman"/>
              </a:rPr>
              <a:t>To implement a </a:t>
            </a:r>
            <a:r>
              <a:rPr b="1" lang="en-US" sz="1400">
                <a:latin typeface="Times New Roman"/>
                <a:ea typeface="Times New Roman"/>
                <a:cs typeface="Times New Roman"/>
                <a:sym typeface="Times New Roman"/>
              </a:rPr>
              <a:t>self-repair feedback loop</a:t>
            </a:r>
            <a:r>
              <a:rPr lang="en-US" sz="1400">
                <a:latin typeface="Times New Roman"/>
                <a:ea typeface="Times New Roman"/>
                <a:cs typeface="Times New Roman"/>
                <a:sym typeface="Times New Roman"/>
              </a:rPr>
              <a:t> for failed tools.</a:t>
            </a:r>
            <a:endParaRPr sz="1400">
              <a:latin typeface="Times New Roman"/>
              <a:ea typeface="Times New Roman"/>
              <a:cs typeface="Times New Roman"/>
              <a:sym typeface="Times New Roman"/>
            </a:endParaRPr>
          </a:p>
          <a:p>
            <a:pPr indent="-317500" lvl="0" marL="342900" rtl="0" algn="l">
              <a:lnSpc>
                <a:spcPct val="150000"/>
              </a:lnSpc>
              <a:spcBef>
                <a:spcPts val="0"/>
              </a:spcBef>
              <a:spcAft>
                <a:spcPts val="0"/>
              </a:spcAft>
              <a:buSzPts val="1400"/>
              <a:buFont typeface="Times New Roman"/>
              <a:buAutoNum type="arabicPeriod"/>
            </a:pPr>
            <a:r>
              <a:rPr lang="en-US" sz="1400">
                <a:latin typeface="Times New Roman"/>
                <a:ea typeface="Times New Roman"/>
                <a:cs typeface="Times New Roman"/>
                <a:sym typeface="Times New Roman"/>
              </a:rPr>
              <a:t>To validate generated tools using automated test cases.</a:t>
            </a:r>
            <a:endParaRPr sz="1400">
              <a:latin typeface="Times New Roman"/>
              <a:ea typeface="Times New Roman"/>
              <a:cs typeface="Times New Roman"/>
              <a:sym typeface="Times New Roman"/>
            </a:endParaRPr>
          </a:p>
          <a:p>
            <a:pPr indent="-317500" lvl="0" marL="342900" rtl="0" algn="l">
              <a:lnSpc>
                <a:spcPct val="150000"/>
              </a:lnSpc>
              <a:spcBef>
                <a:spcPts val="0"/>
              </a:spcBef>
              <a:spcAft>
                <a:spcPts val="0"/>
              </a:spcAft>
              <a:buSzPts val="1400"/>
              <a:buFont typeface="Calibri"/>
              <a:buAutoNum type="arabicPeriod"/>
            </a:pPr>
            <a:r>
              <a:rPr lang="en-US" sz="1400">
                <a:latin typeface="Times New Roman"/>
                <a:ea typeface="Times New Roman"/>
                <a:cs typeface="Times New Roman"/>
                <a:sym typeface="Times New Roman"/>
              </a:rPr>
              <a:t>To register successfully validated tools using </a:t>
            </a:r>
            <a:r>
              <a:rPr b="1" lang="en-US" sz="1400">
                <a:latin typeface="Times New Roman"/>
                <a:ea typeface="Times New Roman"/>
                <a:cs typeface="Times New Roman"/>
                <a:sym typeface="Times New Roman"/>
              </a:rPr>
              <a:t>MCP</a:t>
            </a:r>
            <a:r>
              <a:rPr lang="en-US"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indent="-317500" lvl="0" marL="342900" rtl="0" algn="l">
              <a:lnSpc>
                <a:spcPct val="150000"/>
              </a:lnSpc>
              <a:spcBef>
                <a:spcPts val="0"/>
              </a:spcBef>
              <a:spcAft>
                <a:spcPts val="0"/>
              </a:spcAft>
              <a:buSzPts val="1400"/>
              <a:buFont typeface="Calibri"/>
              <a:buAutoNum type="arabicPeriod"/>
            </a:pPr>
            <a:r>
              <a:rPr lang="en-US" sz="1400">
                <a:latin typeface="Times New Roman"/>
                <a:ea typeface="Times New Roman"/>
                <a:cs typeface="Times New Roman"/>
                <a:sym typeface="Times New Roman"/>
              </a:rPr>
              <a:t>To maintain a persistent </a:t>
            </a:r>
            <a:r>
              <a:rPr b="1" lang="en-US" sz="1400">
                <a:latin typeface="Times New Roman"/>
                <a:ea typeface="Times New Roman"/>
                <a:cs typeface="Times New Roman"/>
                <a:sym typeface="Times New Roman"/>
              </a:rPr>
              <a:t>Tool Registry</a:t>
            </a:r>
            <a:r>
              <a:rPr lang="en-US" sz="1400">
                <a:latin typeface="Times New Roman"/>
                <a:ea typeface="Times New Roman"/>
                <a:cs typeface="Times New Roman"/>
                <a:sym typeface="Times New Roman"/>
              </a:rPr>
              <a:t> for future reuse.</a:t>
            </a:r>
            <a:endParaRPr sz="1400">
              <a:latin typeface="Times New Roman"/>
              <a:ea typeface="Times New Roman"/>
              <a:cs typeface="Times New Roman"/>
              <a:sym typeface="Times New Roman"/>
            </a:endParaRPr>
          </a:p>
          <a:p>
            <a:pPr indent="-317500" lvl="0" marL="342900" rtl="0" algn="l">
              <a:lnSpc>
                <a:spcPct val="150000"/>
              </a:lnSpc>
              <a:spcBef>
                <a:spcPts val="0"/>
              </a:spcBef>
              <a:spcAft>
                <a:spcPts val="0"/>
              </a:spcAft>
              <a:buSzPts val="1400"/>
              <a:buFont typeface="Times New Roman"/>
              <a:buAutoNum type="arabicPeriod"/>
            </a:pPr>
            <a:r>
              <a:rPr lang="en-US" sz="1400">
                <a:latin typeface="Times New Roman"/>
                <a:ea typeface="Times New Roman"/>
                <a:cs typeface="Times New Roman"/>
                <a:sym typeface="Times New Roman"/>
              </a:rPr>
              <a:t>To enable the agent's capabilities to expand progressively over time</a:t>
            </a:r>
            <a:r>
              <a:rPr lang="en-US"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p:txBody>
      </p:sp>
      <p:pic>
        <p:nvPicPr>
          <p:cNvPr id="111" name="Google Shape;111;p5"/>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idx="1" type="body"/>
          </p:nvPr>
        </p:nvSpPr>
        <p:spPr>
          <a:xfrm>
            <a:off x="457200" y="381000"/>
            <a:ext cx="8229600" cy="57451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lang="en-US"/>
              <a:t>System Architecture</a:t>
            </a:r>
            <a:endParaRPr b="1"/>
          </a:p>
          <a:p>
            <a:pPr indent="0" lvl="0" marL="342900" rtl="0" algn="l">
              <a:lnSpc>
                <a:spcPct val="100000"/>
              </a:lnSpc>
              <a:spcBef>
                <a:spcPts val="0"/>
              </a:spcBef>
              <a:spcAft>
                <a:spcPts val="0"/>
              </a:spcAft>
              <a:buSzPts val="1800"/>
              <a:buNone/>
            </a:pPr>
            <a:r>
              <a:t/>
            </a:r>
            <a:endParaRPr/>
          </a:p>
        </p:txBody>
      </p:sp>
      <p:pic>
        <p:nvPicPr>
          <p:cNvPr id="117" name="Google Shape;117;p6"/>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pic>
        <p:nvPicPr>
          <p:cNvPr id="118" name="Google Shape;118;p6" title="ChatGPT Image Jul 29, 2026, 05_00_01 PM.png"/>
          <p:cNvPicPr preferRelativeResize="0"/>
          <p:nvPr/>
        </p:nvPicPr>
        <p:blipFill rotWithShape="1">
          <a:blip r:embed="rId4">
            <a:alphaModFix/>
          </a:blip>
          <a:srcRect b="10031" l="0" r="0" t="0"/>
          <a:stretch/>
        </p:blipFill>
        <p:spPr>
          <a:xfrm>
            <a:off x="2710250" y="1003925"/>
            <a:ext cx="3768599" cy="44752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idx="1" type="body"/>
          </p:nvPr>
        </p:nvSpPr>
        <p:spPr>
          <a:xfrm>
            <a:off x="457200" y="381000"/>
            <a:ext cx="8229600" cy="6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b="1" lang="en-US">
                <a:latin typeface="Times New Roman"/>
                <a:ea typeface="Times New Roman"/>
                <a:cs typeface="Times New Roman"/>
                <a:sym typeface="Times New Roman"/>
              </a:rPr>
              <a:t>Requirements </a:t>
            </a:r>
            <a:r>
              <a:rPr b="1" lang="en-US"/>
              <a:t> </a:t>
            </a:r>
            <a:r>
              <a:rPr b="1" lang="en-US" sz="2800"/>
              <a:t>                      </a:t>
            </a:r>
            <a:endParaRPr b="1" sz="2800">
              <a:latin typeface="Arial"/>
              <a:ea typeface="Arial"/>
              <a:cs typeface="Arial"/>
              <a:sym typeface="Arial"/>
            </a:endParaRPr>
          </a:p>
          <a:p>
            <a:pPr indent="0" lvl="0" marL="342900" rtl="0" algn="l">
              <a:lnSpc>
                <a:spcPct val="100000"/>
              </a:lnSpc>
              <a:spcBef>
                <a:spcPts val="0"/>
              </a:spcBef>
              <a:spcAft>
                <a:spcPts val="0"/>
              </a:spcAft>
              <a:buSzPts val="1800"/>
              <a:buNone/>
            </a:pPr>
            <a:r>
              <a:t/>
            </a:r>
            <a:endParaRPr b="1"/>
          </a:p>
        </p:txBody>
      </p:sp>
      <p:pic>
        <p:nvPicPr>
          <p:cNvPr id="124" name="Google Shape;124;p7"/>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graphicFrame>
        <p:nvGraphicFramePr>
          <p:cNvPr id="125" name="Google Shape;125;p7"/>
          <p:cNvGraphicFramePr/>
          <p:nvPr/>
        </p:nvGraphicFramePr>
        <p:xfrm>
          <a:off x="953288" y="1251850"/>
          <a:ext cx="3000000" cy="3000000"/>
        </p:xfrm>
        <a:graphic>
          <a:graphicData uri="http://schemas.openxmlformats.org/drawingml/2006/table">
            <a:tbl>
              <a:tblPr>
                <a:noFill/>
                <a:tableStyleId>{AD43A953-89AF-4EFA-9AF0-8826F88E2BA4}</a:tableStyleId>
              </a:tblPr>
              <a:tblGrid>
                <a:gridCol w="3619500"/>
                <a:gridCol w="3619500"/>
              </a:tblGrid>
              <a:tr h="601225">
                <a:tc>
                  <a:txBody>
                    <a:bodyPr/>
                    <a:lstStyle/>
                    <a:p>
                      <a:pPr indent="0" lvl="0" marL="0" marR="0" rtl="0" algn="ctr">
                        <a:lnSpc>
                          <a:spcPct val="115000"/>
                        </a:lnSpc>
                        <a:spcBef>
                          <a:spcPts val="0"/>
                        </a:spcBef>
                        <a:spcAft>
                          <a:spcPts val="0"/>
                        </a:spcAft>
                        <a:buClr>
                          <a:schemeClr val="dk1"/>
                        </a:buClr>
                        <a:buSzPts val="1100"/>
                        <a:buFont typeface="Arial"/>
                        <a:buNone/>
                      </a:pPr>
                      <a:r>
                        <a:rPr lang="en-US" sz="2400" u="none" cap="none" strike="noStrike">
                          <a:solidFill>
                            <a:schemeClr val="dk1"/>
                          </a:solidFill>
                          <a:latin typeface="Times New Roman"/>
                          <a:ea typeface="Times New Roman"/>
                          <a:cs typeface="Times New Roman"/>
                          <a:sym typeface="Times New Roman"/>
                        </a:rPr>
                        <a:t>Hardware</a:t>
                      </a:r>
                      <a:endParaRPr sz="1400" u="none" cap="none" strike="noStrike">
                        <a:latin typeface="Times New Roman"/>
                        <a:ea typeface="Times New Roman"/>
                        <a:cs typeface="Times New Roman"/>
                        <a:sym typeface="Times New Roman"/>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100"/>
                        <a:buFont typeface="Arial"/>
                        <a:buNone/>
                      </a:pPr>
                      <a:r>
                        <a:rPr lang="en-US" sz="2400" u="none" cap="none" strike="noStrike">
                          <a:solidFill>
                            <a:schemeClr val="dk1"/>
                          </a:solidFill>
                          <a:latin typeface="Times New Roman"/>
                          <a:ea typeface="Times New Roman"/>
                          <a:cs typeface="Times New Roman"/>
                          <a:sym typeface="Times New Roman"/>
                        </a:rPr>
                        <a:t>Software</a:t>
                      </a:r>
                      <a:endParaRPr sz="1400" u="none" cap="none" strike="noStrike">
                        <a:latin typeface="Times New Roman"/>
                        <a:ea typeface="Times New Roman"/>
                        <a:cs typeface="Times New Roman"/>
                        <a:sym typeface="Times New Roman"/>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606550">
                <a:tc>
                  <a:txBody>
                    <a:bodyPr/>
                    <a:lstStyle/>
                    <a:p>
                      <a:pPr indent="-317500" lvl="0" marL="457200" marR="0" rtl="0" algn="l">
                        <a:lnSpc>
                          <a:spcPct val="100000"/>
                        </a:lnSpc>
                        <a:spcBef>
                          <a:spcPts val="0"/>
                        </a:spcBef>
                        <a:spcAft>
                          <a:spcPts val="0"/>
                        </a:spcAft>
                        <a:buClr>
                          <a:schemeClr val="dk1"/>
                        </a:buClr>
                        <a:buSzPts val="1400"/>
                        <a:buFont typeface="Times New Roman"/>
                        <a:buChar char="●"/>
                      </a:pPr>
                      <a:r>
                        <a:rPr lang="en-US" u="none" cap="none" strike="noStrike">
                          <a:solidFill>
                            <a:schemeClr val="dk1"/>
                          </a:solidFill>
                          <a:latin typeface="Times New Roman"/>
                          <a:ea typeface="Times New Roman"/>
                          <a:cs typeface="Times New Roman"/>
                          <a:sym typeface="Times New Roman"/>
                        </a:rPr>
                        <a:t>Laptop/Desktop  </a:t>
                      </a:r>
                      <a:endParaRPr u="none" cap="none" strike="noStrike">
                        <a:latin typeface="Times New Roman"/>
                        <a:ea typeface="Times New Roman"/>
                        <a:cs typeface="Times New Roman"/>
                        <a:sym typeface="Times New Roman"/>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317500" lvl="0" marL="457200" marR="0" rtl="0" algn="l">
                        <a:lnSpc>
                          <a:spcPct val="100000"/>
                        </a:lnSpc>
                        <a:spcBef>
                          <a:spcPts val="0"/>
                        </a:spcBef>
                        <a:spcAft>
                          <a:spcPts val="0"/>
                        </a:spcAft>
                        <a:buClr>
                          <a:srgbClr val="000000"/>
                        </a:buClr>
                        <a:buSzPts val="1400"/>
                        <a:buFont typeface="Times New Roman"/>
                        <a:buChar char="●"/>
                      </a:pPr>
                      <a:r>
                        <a:rPr lang="en-US" u="none" cap="none" strike="noStrike">
                          <a:latin typeface="Times New Roman"/>
                          <a:ea typeface="Times New Roman"/>
                          <a:cs typeface="Times New Roman"/>
                          <a:sym typeface="Times New Roman"/>
                        </a:rPr>
                        <a:t>Python</a:t>
                      </a:r>
                      <a:endParaRPr u="none" cap="none" strike="noStrike">
                        <a:latin typeface="Times New Roman"/>
                        <a:ea typeface="Times New Roman"/>
                        <a:cs typeface="Times New Roman"/>
                        <a:sym typeface="Times New Roman"/>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606550">
                <a:tc>
                  <a:txBody>
                    <a:bodyPr/>
                    <a:lstStyle/>
                    <a:p>
                      <a:pPr indent="-317500" lvl="0" marL="457200" marR="0" rtl="0" algn="l">
                        <a:lnSpc>
                          <a:spcPct val="100000"/>
                        </a:lnSpc>
                        <a:spcBef>
                          <a:spcPts val="0"/>
                        </a:spcBef>
                        <a:spcAft>
                          <a:spcPts val="0"/>
                        </a:spcAft>
                        <a:buClr>
                          <a:schemeClr val="dk1"/>
                        </a:buClr>
                        <a:buSzPts val="1400"/>
                        <a:buFont typeface="Times New Roman"/>
                        <a:buChar char="●"/>
                      </a:pPr>
                      <a:r>
                        <a:rPr lang="en-US" u="none" cap="none" strike="noStrike">
                          <a:solidFill>
                            <a:schemeClr val="dk1"/>
                          </a:solidFill>
                          <a:latin typeface="Times New Roman"/>
                          <a:ea typeface="Times New Roman"/>
                          <a:cs typeface="Times New Roman"/>
                          <a:sym typeface="Times New Roman"/>
                        </a:rPr>
                        <a:t>Ram 16GB</a:t>
                      </a:r>
                      <a:endParaRPr u="none" cap="none" strike="noStrike">
                        <a:latin typeface="Times New Roman"/>
                        <a:ea typeface="Times New Roman"/>
                        <a:cs typeface="Times New Roman"/>
                        <a:sym typeface="Times New Roman"/>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317500" lvl="0" marL="457200" marR="0" rtl="0" algn="l">
                        <a:lnSpc>
                          <a:spcPct val="100000"/>
                        </a:lnSpc>
                        <a:spcBef>
                          <a:spcPts val="0"/>
                        </a:spcBef>
                        <a:spcAft>
                          <a:spcPts val="0"/>
                        </a:spcAft>
                        <a:buClr>
                          <a:srgbClr val="000000"/>
                        </a:buClr>
                        <a:buSzPts val="1400"/>
                        <a:buFont typeface="Times New Roman"/>
                        <a:buChar char="●"/>
                      </a:pPr>
                      <a:r>
                        <a:rPr lang="en-US" u="none" cap="none" strike="noStrike">
                          <a:latin typeface="Times New Roman"/>
                          <a:ea typeface="Times New Roman"/>
                          <a:cs typeface="Times New Roman"/>
                          <a:sym typeface="Times New Roman"/>
                        </a:rPr>
                        <a:t>LangChain / LangGraph </a:t>
                      </a:r>
                      <a:endParaRPr u="none" cap="none" strike="noStrike">
                        <a:latin typeface="Times New Roman"/>
                        <a:ea typeface="Times New Roman"/>
                        <a:cs typeface="Times New Roman"/>
                        <a:sym typeface="Times New Roman"/>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606550">
                <a:tc>
                  <a:txBody>
                    <a:bodyPr/>
                    <a:lstStyle/>
                    <a:p>
                      <a:pPr indent="-317500" lvl="0" marL="457200" marR="0" rtl="0" algn="l">
                        <a:lnSpc>
                          <a:spcPct val="100000"/>
                        </a:lnSpc>
                        <a:spcBef>
                          <a:spcPts val="0"/>
                        </a:spcBef>
                        <a:spcAft>
                          <a:spcPts val="0"/>
                        </a:spcAft>
                        <a:buClr>
                          <a:schemeClr val="dk1"/>
                        </a:buClr>
                        <a:buSzPts val="1400"/>
                        <a:buFont typeface="Times New Roman"/>
                        <a:buChar char="●"/>
                      </a:pPr>
                      <a:r>
                        <a:rPr lang="en-US" u="none" cap="none" strike="noStrike">
                          <a:solidFill>
                            <a:schemeClr val="dk1"/>
                          </a:solidFill>
                          <a:latin typeface="Times New Roman"/>
                          <a:ea typeface="Times New Roman"/>
                          <a:cs typeface="Times New Roman"/>
                          <a:sym typeface="Times New Roman"/>
                        </a:rPr>
                        <a:t>Multi-core CPU</a:t>
                      </a:r>
                      <a:endParaRPr u="none" cap="none" strike="noStrike">
                        <a:latin typeface="Times New Roman"/>
                        <a:ea typeface="Times New Roman"/>
                        <a:cs typeface="Times New Roman"/>
                        <a:sym typeface="Times New Roman"/>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317500" lvl="0" marL="457200" marR="0" rtl="0" algn="l">
                        <a:lnSpc>
                          <a:spcPct val="100000"/>
                        </a:lnSpc>
                        <a:spcBef>
                          <a:spcPts val="0"/>
                        </a:spcBef>
                        <a:spcAft>
                          <a:spcPts val="0"/>
                        </a:spcAft>
                        <a:buClr>
                          <a:srgbClr val="000000"/>
                        </a:buClr>
                        <a:buSzPts val="1400"/>
                        <a:buFont typeface="Times New Roman"/>
                        <a:buChar char="●"/>
                      </a:pPr>
                      <a:r>
                        <a:rPr lang="en-US" u="none" cap="none" strike="noStrike">
                          <a:latin typeface="Times New Roman"/>
                          <a:ea typeface="Times New Roman"/>
                          <a:cs typeface="Times New Roman"/>
                          <a:sym typeface="Times New Roman"/>
                        </a:rPr>
                        <a:t>LLM APIs or Open-Source LLMs </a:t>
                      </a:r>
                      <a:endParaRPr u="none" cap="none" strike="noStrike">
                        <a:latin typeface="Times New Roman"/>
                        <a:ea typeface="Times New Roman"/>
                        <a:cs typeface="Times New Roman"/>
                        <a:sym typeface="Times New Roman"/>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630750">
                <a:tc>
                  <a:txBody>
                    <a:bodyPr/>
                    <a:lstStyle/>
                    <a:p>
                      <a:pPr indent="-317500" lvl="0" marL="457200" marR="0" rtl="0" algn="l">
                        <a:lnSpc>
                          <a:spcPct val="100000"/>
                        </a:lnSpc>
                        <a:spcBef>
                          <a:spcPts val="0"/>
                        </a:spcBef>
                        <a:spcAft>
                          <a:spcPts val="0"/>
                        </a:spcAft>
                        <a:buClr>
                          <a:schemeClr val="dk1"/>
                        </a:buClr>
                        <a:buSzPts val="1400"/>
                        <a:buFont typeface="Times New Roman"/>
                        <a:buChar char="●"/>
                      </a:pPr>
                      <a:r>
                        <a:rPr lang="en-US" u="none" cap="none" strike="noStrike">
                          <a:solidFill>
                            <a:schemeClr val="dk1"/>
                          </a:solidFill>
                          <a:latin typeface="Times New Roman"/>
                          <a:ea typeface="Times New Roman"/>
                          <a:cs typeface="Times New Roman"/>
                          <a:sym typeface="Times New Roman"/>
                        </a:rPr>
                        <a:t>GPU</a:t>
                      </a:r>
                      <a:endParaRPr u="none" cap="none" strike="noStrike">
                        <a:latin typeface="Times New Roman"/>
                        <a:ea typeface="Times New Roman"/>
                        <a:cs typeface="Times New Roman"/>
                        <a:sym typeface="Times New Roman"/>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317500" lvl="0" marL="457200" marR="0" rtl="0" algn="l">
                        <a:lnSpc>
                          <a:spcPct val="100000"/>
                        </a:lnSpc>
                        <a:spcBef>
                          <a:spcPts val="0"/>
                        </a:spcBef>
                        <a:spcAft>
                          <a:spcPts val="0"/>
                        </a:spcAft>
                        <a:buClr>
                          <a:srgbClr val="000000"/>
                        </a:buClr>
                        <a:buSzPts val="1400"/>
                        <a:buFont typeface="Times New Roman"/>
                        <a:buChar char="●"/>
                      </a:pPr>
                      <a:r>
                        <a:rPr lang="en-US" u="none" cap="none" strike="noStrike">
                          <a:latin typeface="Times New Roman"/>
                          <a:ea typeface="Times New Roman"/>
                          <a:cs typeface="Times New Roman"/>
                          <a:sym typeface="Times New Roman"/>
                        </a:rPr>
                        <a:t>SQLite / PostgreSQL  , Git &amp; GitHub </a:t>
                      </a:r>
                      <a:endParaRPr u="none" cap="none" strike="noStrike">
                        <a:latin typeface="Times New Roman"/>
                        <a:ea typeface="Times New Roman"/>
                        <a:cs typeface="Times New Roman"/>
                        <a:sym typeface="Times New Roman"/>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idx="1" type="body"/>
          </p:nvPr>
        </p:nvSpPr>
        <p:spPr>
          <a:xfrm>
            <a:off x="457200" y="533400"/>
            <a:ext cx="8229600" cy="4841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lang="en-US">
                <a:latin typeface="Times New Roman"/>
                <a:ea typeface="Times New Roman"/>
                <a:cs typeface="Times New Roman"/>
                <a:sym typeface="Times New Roman"/>
              </a:rPr>
              <a:t>Expected Outcome</a:t>
            </a:r>
            <a:endParaRPr b="1">
              <a:latin typeface="Times New Roman"/>
              <a:ea typeface="Times New Roman"/>
              <a:cs typeface="Times New Roman"/>
              <a:sym typeface="Times New Roman"/>
            </a:endParaRPr>
          </a:p>
          <a:p>
            <a:pPr indent="-330200" lvl="0" marL="457200" rtl="0" algn="l">
              <a:lnSpc>
                <a:spcPct val="150000"/>
              </a:lnSpc>
              <a:spcBef>
                <a:spcPts val="1200"/>
              </a:spcBef>
              <a:spcAft>
                <a:spcPts val="0"/>
              </a:spcAft>
              <a:buSzPts val="1600"/>
              <a:buFont typeface="Times New Roman"/>
              <a:buAutoNum type="arabicPeriod"/>
            </a:pPr>
            <a:r>
              <a:rPr lang="en-US" sz="1400">
                <a:latin typeface="Times New Roman"/>
                <a:ea typeface="Times New Roman"/>
                <a:cs typeface="Times New Roman"/>
                <a:sym typeface="Times New Roman"/>
              </a:rPr>
              <a:t>An AI agent capable of recognizing when a required tool is unavailable.</a:t>
            </a:r>
            <a:endParaRPr sz="14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AutoNum type="arabicPeriod"/>
            </a:pPr>
            <a:r>
              <a:rPr lang="en-US" sz="1400">
                <a:latin typeface="Times New Roman"/>
                <a:ea typeface="Times New Roman"/>
                <a:cs typeface="Times New Roman"/>
                <a:sym typeface="Times New Roman"/>
              </a:rPr>
              <a:t>Automatic generation of new tool interfaces and executable code.</a:t>
            </a:r>
            <a:endParaRPr sz="14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AutoNum type="arabicPeriod"/>
            </a:pPr>
            <a:r>
              <a:rPr lang="en-US" sz="1400">
                <a:latin typeface="Times New Roman"/>
                <a:ea typeface="Times New Roman"/>
                <a:cs typeface="Times New Roman"/>
                <a:sym typeface="Times New Roman"/>
              </a:rPr>
              <a:t>Secure testing of dynamically generated tools.</a:t>
            </a:r>
            <a:endParaRPr sz="14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AutoNum type="arabicPeriod"/>
            </a:pPr>
            <a:r>
              <a:rPr lang="en-US" sz="1400">
                <a:latin typeface="Times New Roman"/>
                <a:ea typeface="Times New Roman"/>
                <a:cs typeface="Times New Roman"/>
                <a:sym typeface="Times New Roman"/>
              </a:rPr>
              <a:t>Automated detection and repair of tool failures.</a:t>
            </a:r>
            <a:endParaRPr sz="14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AutoNum type="arabicPeriod"/>
            </a:pPr>
            <a:r>
              <a:rPr lang="en-US" sz="1400">
                <a:latin typeface="Times New Roman"/>
                <a:ea typeface="Times New Roman"/>
                <a:cs typeface="Times New Roman"/>
                <a:sym typeface="Times New Roman"/>
              </a:rPr>
              <a:t>MCP-based registration of validated tools.</a:t>
            </a:r>
            <a:endParaRPr sz="14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AutoNum type="arabicPeriod"/>
            </a:pPr>
            <a:r>
              <a:rPr lang="en-US" sz="1400">
                <a:latin typeface="Times New Roman"/>
                <a:ea typeface="Times New Roman"/>
                <a:cs typeface="Times New Roman"/>
                <a:sym typeface="Times New Roman"/>
              </a:rPr>
              <a:t>Persistent storage and reuse of previously created capabilities.</a:t>
            </a:r>
            <a:endParaRPr sz="14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AutoNum type="arabicPeriod"/>
            </a:pPr>
            <a:r>
              <a:rPr lang="en-US" sz="1400">
                <a:latin typeface="Times New Roman"/>
                <a:ea typeface="Times New Roman"/>
                <a:cs typeface="Times New Roman"/>
                <a:sym typeface="Times New Roman"/>
              </a:rPr>
              <a:t>Reduced dependence on manually developed integrations.</a:t>
            </a:r>
            <a:endParaRPr sz="14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AutoNum type="arabicPeriod"/>
            </a:pPr>
            <a:r>
              <a:rPr lang="en-US" sz="1400">
                <a:latin typeface="Times New Roman"/>
                <a:ea typeface="Times New Roman"/>
                <a:cs typeface="Times New Roman"/>
                <a:sym typeface="Times New Roman"/>
              </a:rPr>
              <a:t>Improved adaptability to new APIs, databases, and software environments.</a:t>
            </a:r>
            <a:endParaRPr sz="14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AutoNum type="arabicPeriod"/>
            </a:pPr>
            <a:r>
              <a:rPr lang="en-US" sz="1400">
                <a:latin typeface="Times New Roman"/>
                <a:ea typeface="Times New Roman"/>
                <a:cs typeface="Times New Roman"/>
                <a:sym typeface="Times New Roman"/>
              </a:rPr>
              <a:t>Creation of a continuously expanding </a:t>
            </a:r>
            <a:r>
              <a:rPr b="1" lang="en-US" sz="1400">
                <a:latin typeface="Times New Roman"/>
                <a:ea typeface="Times New Roman"/>
                <a:cs typeface="Times New Roman"/>
                <a:sym typeface="Times New Roman"/>
              </a:rPr>
              <a:t>tool ecosystem</a:t>
            </a:r>
            <a:r>
              <a:rPr lang="en-US"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AutoNum type="arabicPeriod"/>
            </a:pPr>
            <a:r>
              <a:rPr lang="en-US" sz="1400">
                <a:latin typeface="Times New Roman"/>
                <a:ea typeface="Times New Roman"/>
                <a:cs typeface="Times New Roman"/>
                <a:sym typeface="Times New Roman"/>
              </a:rPr>
              <a:t>A practical prototype demonstrating </a:t>
            </a:r>
            <a:r>
              <a:rPr b="1" lang="en-US" sz="1400">
                <a:latin typeface="Times New Roman"/>
                <a:ea typeface="Times New Roman"/>
                <a:cs typeface="Times New Roman"/>
                <a:sym typeface="Times New Roman"/>
              </a:rPr>
              <a:t>self-expanding AI capabilities</a:t>
            </a:r>
            <a:r>
              <a:rPr lang="en-US"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indent="0" lvl="0" marL="0" rtl="0" algn="l">
              <a:lnSpc>
                <a:spcPct val="150000"/>
              </a:lnSpc>
              <a:spcBef>
                <a:spcPts val="1200"/>
              </a:spcBef>
              <a:spcAft>
                <a:spcPts val="1200"/>
              </a:spcAft>
              <a:buSzPts val="1800"/>
              <a:buNone/>
            </a:pPr>
            <a:r>
              <a:t/>
            </a:r>
            <a:endParaRPr sz="1300"/>
          </a:p>
        </p:txBody>
      </p:sp>
      <p:pic>
        <p:nvPicPr>
          <p:cNvPr id="131" name="Google Shape;131;p8"/>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idx="1" type="body"/>
          </p:nvPr>
        </p:nvSpPr>
        <p:spPr>
          <a:xfrm>
            <a:off x="457200" y="533400"/>
            <a:ext cx="8229600" cy="50292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50000"/>
              </a:lnSpc>
              <a:spcBef>
                <a:spcPts val="0"/>
              </a:spcBef>
              <a:spcAft>
                <a:spcPts val="0"/>
              </a:spcAft>
              <a:buSzPct val="56250"/>
              <a:buNone/>
            </a:pPr>
            <a:r>
              <a:rPr b="1" lang="en-US" sz="12800">
                <a:latin typeface="Times New Roman"/>
                <a:ea typeface="Times New Roman"/>
                <a:cs typeface="Times New Roman"/>
                <a:sym typeface="Times New Roman"/>
              </a:rPr>
              <a:t>References:</a:t>
            </a:r>
            <a:endParaRPr b="1" sz="12800">
              <a:latin typeface="Times New Roman"/>
              <a:ea typeface="Times New Roman"/>
              <a:cs typeface="Times New Roman"/>
              <a:sym typeface="Times New Roman"/>
            </a:endParaRPr>
          </a:p>
          <a:p>
            <a:pPr indent="0" lvl="0" marL="0" rtl="0" algn="just">
              <a:lnSpc>
                <a:spcPct val="115000"/>
              </a:lnSpc>
              <a:spcBef>
                <a:spcPts val="1200"/>
              </a:spcBef>
              <a:spcAft>
                <a:spcPts val="0"/>
              </a:spcAft>
              <a:buSzPct val="128571"/>
              <a:buNone/>
            </a:pPr>
            <a:r>
              <a:rPr b="1" lang="en-US" sz="5600">
                <a:latin typeface="Times New Roman"/>
                <a:ea typeface="Times New Roman"/>
                <a:cs typeface="Times New Roman"/>
                <a:sym typeface="Times New Roman"/>
              </a:rPr>
              <a:t>[1]</a:t>
            </a:r>
            <a:r>
              <a:rPr lang="en-US" sz="5600">
                <a:latin typeface="Times New Roman"/>
                <a:ea typeface="Times New Roman"/>
                <a:cs typeface="Times New Roman"/>
                <a:sym typeface="Times New Roman"/>
              </a:rPr>
              <a:t> </a:t>
            </a:r>
            <a:r>
              <a:rPr b="1" lang="en-US" sz="5600">
                <a:latin typeface="Times New Roman"/>
                <a:ea typeface="Times New Roman"/>
                <a:cs typeface="Times New Roman"/>
                <a:sym typeface="Times New Roman"/>
              </a:rPr>
              <a:t>B. Xia et al.,</a:t>
            </a:r>
            <a:r>
              <a:rPr lang="en-US" sz="5600">
                <a:latin typeface="Times New Roman"/>
                <a:ea typeface="Times New Roman"/>
                <a:cs typeface="Times New Roman"/>
                <a:sym typeface="Times New Roman"/>
              </a:rPr>
              <a:t> </a:t>
            </a:r>
            <a:r>
              <a:rPr i="1" lang="en-US" sz="5600">
                <a:latin typeface="Times New Roman"/>
                <a:ea typeface="Times New Roman"/>
                <a:cs typeface="Times New Roman"/>
                <a:sym typeface="Times New Roman"/>
              </a:rPr>
              <a:t>"Tool-Genesis: A Task-Driven Tool Creation Benchmark for Self-Evolving Language Agent,"</a:t>
            </a:r>
            <a:r>
              <a:rPr lang="en-US" sz="5600">
                <a:latin typeface="Times New Roman"/>
                <a:ea typeface="Times New Roman"/>
                <a:cs typeface="Times New Roman"/>
                <a:sym typeface="Times New Roman"/>
              </a:rPr>
              <a:t> arXiv:2603.05578, 2026.</a:t>
            </a:r>
            <a:br>
              <a:rPr lang="en-US" sz="5600">
                <a:latin typeface="Times New Roman"/>
                <a:ea typeface="Times New Roman"/>
                <a:cs typeface="Times New Roman"/>
                <a:sym typeface="Times New Roman"/>
              </a:rPr>
            </a:br>
            <a:r>
              <a:rPr lang="en-US" sz="5600">
                <a:latin typeface="Times New Roman"/>
                <a:ea typeface="Times New Roman"/>
                <a:cs typeface="Times New Roman"/>
                <a:sym typeface="Times New Roman"/>
              </a:rPr>
              <a:t> This paper introduces </a:t>
            </a:r>
            <a:r>
              <a:rPr b="1" lang="en-US" sz="5600">
                <a:latin typeface="Times New Roman"/>
                <a:ea typeface="Times New Roman"/>
                <a:cs typeface="Times New Roman"/>
                <a:sym typeface="Times New Roman"/>
              </a:rPr>
              <a:t>Tool-Genesis</a:t>
            </a:r>
            <a:r>
              <a:rPr lang="en-US" sz="5600">
                <a:latin typeface="Times New Roman"/>
                <a:ea typeface="Times New Roman"/>
                <a:cs typeface="Times New Roman"/>
                <a:sym typeface="Times New Roman"/>
              </a:rPr>
              <a:t>, a benchmark for evaluating language agents that can autonomously create, improve, and reuse software tools. </a:t>
            </a:r>
            <a:endParaRPr sz="5600">
              <a:latin typeface="Times New Roman"/>
              <a:ea typeface="Times New Roman"/>
              <a:cs typeface="Times New Roman"/>
              <a:sym typeface="Times New Roman"/>
            </a:endParaRPr>
          </a:p>
          <a:p>
            <a:pPr indent="0" lvl="0" marL="0" rtl="0" algn="just">
              <a:lnSpc>
                <a:spcPct val="115000"/>
              </a:lnSpc>
              <a:spcBef>
                <a:spcPts val="1200"/>
              </a:spcBef>
              <a:spcAft>
                <a:spcPts val="0"/>
              </a:spcAft>
              <a:buSzPct val="128571"/>
              <a:buNone/>
            </a:pPr>
            <a:r>
              <a:rPr b="1" lang="en-US" sz="5600">
                <a:latin typeface="Times New Roman"/>
                <a:ea typeface="Times New Roman"/>
                <a:cs typeface="Times New Roman"/>
                <a:sym typeface="Times New Roman"/>
              </a:rPr>
              <a:t>[2]</a:t>
            </a:r>
            <a:r>
              <a:rPr lang="en-US" sz="5600">
                <a:latin typeface="Times New Roman"/>
                <a:ea typeface="Times New Roman"/>
                <a:cs typeface="Times New Roman"/>
                <a:sym typeface="Times New Roman"/>
              </a:rPr>
              <a:t> </a:t>
            </a:r>
            <a:r>
              <a:rPr b="1" lang="en-US" sz="5600">
                <a:latin typeface="Times New Roman"/>
                <a:ea typeface="Times New Roman"/>
                <a:cs typeface="Times New Roman"/>
                <a:sym typeface="Times New Roman"/>
              </a:rPr>
              <a:t>T. Cai et al.,</a:t>
            </a:r>
            <a:r>
              <a:rPr lang="en-US" sz="5600">
                <a:latin typeface="Times New Roman"/>
                <a:ea typeface="Times New Roman"/>
                <a:cs typeface="Times New Roman"/>
                <a:sym typeface="Times New Roman"/>
              </a:rPr>
              <a:t> </a:t>
            </a:r>
            <a:r>
              <a:rPr i="1" lang="en-US" sz="5600">
                <a:latin typeface="Times New Roman"/>
                <a:ea typeface="Times New Roman"/>
                <a:cs typeface="Times New Roman"/>
                <a:sym typeface="Times New Roman"/>
              </a:rPr>
              <a:t>"Large Language Models as Tool Makers,"</a:t>
            </a:r>
            <a:r>
              <a:rPr lang="en-US" sz="5600">
                <a:latin typeface="Times New Roman"/>
                <a:ea typeface="Times New Roman"/>
                <a:cs typeface="Times New Roman"/>
                <a:sym typeface="Times New Roman"/>
              </a:rPr>
              <a:t> 2023.</a:t>
            </a:r>
            <a:br>
              <a:rPr lang="en-US" sz="5600">
                <a:latin typeface="Times New Roman"/>
                <a:ea typeface="Times New Roman"/>
                <a:cs typeface="Times New Roman"/>
                <a:sym typeface="Times New Roman"/>
              </a:rPr>
            </a:br>
            <a:r>
              <a:rPr lang="en-US" sz="5600">
                <a:latin typeface="Times New Roman"/>
                <a:ea typeface="Times New Roman"/>
                <a:cs typeface="Times New Roman"/>
                <a:sym typeface="Times New Roman"/>
              </a:rPr>
              <a:t> The authors demonstrate that Large Language Models can generate executable software tools directly from natural language instructions. </a:t>
            </a:r>
            <a:endParaRPr sz="5600">
              <a:latin typeface="Times New Roman"/>
              <a:ea typeface="Times New Roman"/>
              <a:cs typeface="Times New Roman"/>
              <a:sym typeface="Times New Roman"/>
            </a:endParaRPr>
          </a:p>
          <a:p>
            <a:pPr indent="0" lvl="0" marL="0" rtl="0" algn="just">
              <a:lnSpc>
                <a:spcPct val="115000"/>
              </a:lnSpc>
              <a:spcBef>
                <a:spcPts val="1200"/>
              </a:spcBef>
              <a:spcAft>
                <a:spcPts val="0"/>
              </a:spcAft>
              <a:buSzPct val="128571"/>
              <a:buNone/>
            </a:pPr>
            <a:r>
              <a:rPr b="1" lang="en-US" sz="5600">
                <a:latin typeface="Times New Roman"/>
                <a:ea typeface="Times New Roman"/>
                <a:cs typeface="Times New Roman"/>
                <a:sym typeface="Times New Roman"/>
              </a:rPr>
              <a:t>[3]</a:t>
            </a:r>
            <a:r>
              <a:rPr lang="en-US" sz="5600">
                <a:latin typeface="Times New Roman"/>
                <a:ea typeface="Times New Roman"/>
                <a:cs typeface="Times New Roman"/>
                <a:sym typeface="Times New Roman"/>
              </a:rPr>
              <a:t> </a:t>
            </a:r>
            <a:r>
              <a:rPr b="1" lang="en-US" sz="5600">
                <a:latin typeface="Times New Roman"/>
                <a:ea typeface="Times New Roman"/>
                <a:cs typeface="Times New Roman"/>
                <a:sym typeface="Times New Roman"/>
              </a:rPr>
              <a:t>T. Schick et al.,</a:t>
            </a:r>
            <a:r>
              <a:rPr lang="en-US" sz="5600">
                <a:latin typeface="Times New Roman"/>
                <a:ea typeface="Times New Roman"/>
                <a:cs typeface="Times New Roman"/>
                <a:sym typeface="Times New Roman"/>
              </a:rPr>
              <a:t> </a:t>
            </a:r>
            <a:r>
              <a:rPr i="1" lang="en-US" sz="5600">
                <a:latin typeface="Times New Roman"/>
                <a:ea typeface="Times New Roman"/>
                <a:cs typeface="Times New Roman"/>
                <a:sym typeface="Times New Roman"/>
              </a:rPr>
              <a:t>"Toolformer: Language Models Can Teach Themselves to Use Tools,"</a:t>
            </a:r>
            <a:r>
              <a:rPr lang="en-US" sz="5600">
                <a:latin typeface="Times New Roman"/>
                <a:ea typeface="Times New Roman"/>
                <a:cs typeface="Times New Roman"/>
                <a:sym typeface="Times New Roman"/>
              </a:rPr>
              <a:t> 2023.</a:t>
            </a:r>
            <a:br>
              <a:rPr lang="en-US" sz="5600">
                <a:latin typeface="Times New Roman"/>
                <a:ea typeface="Times New Roman"/>
                <a:cs typeface="Times New Roman"/>
                <a:sym typeface="Times New Roman"/>
              </a:rPr>
            </a:br>
            <a:r>
              <a:rPr lang="en-US" sz="5600">
                <a:latin typeface="Times New Roman"/>
                <a:ea typeface="Times New Roman"/>
                <a:cs typeface="Times New Roman"/>
                <a:sym typeface="Times New Roman"/>
              </a:rPr>
              <a:t> Toolformer enables language models to learn how to use external tools through self-supervised learning without requiring manual annotations. </a:t>
            </a:r>
            <a:endParaRPr sz="5600">
              <a:latin typeface="Times New Roman"/>
              <a:ea typeface="Times New Roman"/>
              <a:cs typeface="Times New Roman"/>
              <a:sym typeface="Times New Roman"/>
            </a:endParaRPr>
          </a:p>
          <a:p>
            <a:pPr indent="0" lvl="0" marL="0" rtl="0" algn="just">
              <a:lnSpc>
                <a:spcPct val="115000"/>
              </a:lnSpc>
              <a:spcBef>
                <a:spcPts val="1200"/>
              </a:spcBef>
              <a:spcAft>
                <a:spcPts val="0"/>
              </a:spcAft>
              <a:buSzPct val="128571"/>
              <a:buNone/>
            </a:pPr>
            <a:r>
              <a:rPr b="1" lang="en-US" sz="5600">
                <a:latin typeface="Times New Roman"/>
                <a:ea typeface="Times New Roman"/>
                <a:cs typeface="Times New Roman"/>
                <a:sym typeface="Times New Roman"/>
              </a:rPr>
              <a:t>[4]</a:t>
            </a:r>
            <a:r>
              <a:rPr lang="en-US" sz="5600">
                <a:latin typeface="Times New Roman"/>
                <a:ea typeface="Times New Roman"/>
                <a:cs typeface="Times New Roman"/>
                <a:sym typeface="Times New Roman"/>
              </a:rPr>
              <a:t> </a:t>
            </a:r>
            <a:r>
              <a:rPr b="1" lang="en-US" sz="5600">
                <a:latin typeface="Times New Roman"/>
                <a:ea typeface="Times New Roman"/>
                <a:cs typeface="Times New Roman"/>
                <a:sym typeface="Times New Roman"/>
              </a:rPr>
              <a:t>Y. Qin et al.,</a:t>
            </a:r>
            <a:r>
              <a:rPr lang="en-US" sz="5600">
                <a:latin typeface="Times New Roman"/>
                <a:ea typeface="Times New Roman"/>
                <a:cs typeface="Times New Roman"/>
                <a:sym typeface="Times New Roman"/>
              </a:rPr>
              <a:t> </a:t>
            </a:r>
            <a:r>
              <a:rPr i="1" lang="en-US" sz="5600">
                <a:latin typeface="Times New Roman"/>
                <a:ea typeface="Times New Roman"/>
                <a:cs typeface="Times New Roman"/>
                <a:sym typeface="Times New Roman"/>
              </a:rPr>
              <a:t>"ToolLLM: Facilitating Large Language Models to Master 16000+ Real-World APIs,"</a:t>
            </a:r>
            <a:r>
              <a:rPr lang="en-US" sz="5600">
                <a:latin typeface="Times New Roman"/>
                <a:ea typeface="Times New Roman"/>
                <a:cs typeface="Times New Roman"/>
                <a:sym typeface="Times New Roman"/>
              </a:rPr>
              <a:t> 2023.</a:t>
            </a:r>
            <a:br>
              <a:rPr lang="en-US" sz="5600">
                <a:latin typeface="Times New Roman"/>
                <a:ea typeface="Times New Roman"/>
                <a:cs typeface="Times New Roman"/>
                <a:sym typeface="Times New Roman"/>
              </a:rPr>
            </a:br>
            <a:r>
              <a:rPr lang="en-US" sz="5600">
                <a:latin typeface="Times New Roman"/>
                <a:ea typeface="Times New Roman"/>
                <a:cs typeface="Times New Roman"/>
                <a:sym typeface="Times New Roman"/>
              </a:rPr>
              <a:t> ToolLLM provides a framework that allows language models to interact with more than </a:t>
            </a:r>
            <a:r>
              <a:rPr b="1" lang="en-US" sz="5600">
                <a:latin typeface="Times New Roman"/>
                <a:ea typeface="Times New Roman"/>
                <a:cs typeface="Times New Roman"/>
                <a:sym typeface="Times New Roman"/>
              </a:rPr>
              <a:t>16,000 real-world APIs</a:t>
            </a:r>
            <a:r>
              <a:rPr lang="en-US" sz="5600">
                <a:latin typeface="Times New Roman"/>
                <a:ea typeface="Times New Roman"/>
                <a:cs typeface="Times New Roman"/>
                <a:sym typeface="Times New Roman"/>
              </a:rPr>
              <a:t> using intelligent retrieval.</a:t>
            </a:r>
            <a:endParaRPr sz="5600">
              <a:latin typeface="Times New Roman"/>
              <a:ea typeface="Times New Roman"/>
              <a:cs typeface="Times New Roman"/>
              <a:sym typeface="Times New Roman"/>
            </a:endParaRPr>
          </a:p>
          <a:p>
            <a:pPr indent="0" lvl="0" marL="0" rtl="0" algn="just">
              <a:lnSpc>
                <a:spcPct val="115000"/>
              </a:lnSpc>
              <a:spcBef>
                <a:spcPts val="1200"/>
              </a:spcBef>
              <a:spcAft>
                <a:spcPts val="1200"/>
              </a:spcAft>
              <a:buSzPct val="128571"/>
              <a:buNone/>
            </a:pPr>
            <a:r>
              <a:rPr b="1" lang="en-US" sz="5600">
                <a:latin typeface="Times New Roman"/>
                <a:ea typeface="Times New Roman"/>
                <a:cs typeface="Times New Roman"/>
                <a:sym typeface="Times New Roman"/>
              </a:rPr>
              <a:t>[5]</a:t>
            </a:r>
            <a:r>
              <a:rPr lang="en-US" sz="5600">
                <a:latin typeface="Times New Roman"/>
                <a:ea typeface="Times New Roman"/>
                <a:cs typeface="Times New Roman"/>
                <a:sym typeface="Times New Roman"/>
              </a:rPr>
              <a:t> </a:t>
            </a:r>
            <a:r>
              <a:rPr b="1" lang="en-US" sz="5600">
                <a:latin typeface="Times New Roman"/>
                <a:ea typeface="Times New Roman"/>
                <a:cs typeface="Times New Roman"/>
                <a:sym typeface="Times New Roman"/>
              </a:rPr>
              <a:t>S. Yao et al.,</a:t>
            </a:r>
            <a:r>
              <a:rPr lang="en-US" sz="5600">
                <a:latin typeface="Times New Roman"/>
                <a:ea typeface="Times New Roman"/>
                <a:cs typeface="Times New Roman"/>
                <a:sym typeface="Times New Roman"/>
              </a:rPr>
              <a:t> </a:t>
            </a:r>
            <a:r>
              <a:rPr i="1" lang="en-US" sz="5600">
                <a:latin typeface="Times New Roman"/>
                <a:ea typeface="Times New Roman"/>
                <a:cs typeface="Times New Roman"/>
                <a:sym typeface="Times New Roman"/>
              </a:rPr>
              <a:t>"ReAct: Synergizing Reasoning and Acting in Language Models,"</a:t>
            </a:r>
            <a:r>
              <a:rPr lang="en-US" sz="5600">
                <a:latin typeface="Times New Roman"/>
                <a:ea typeface="Times New Roman"/>
                <a:cs typeface="Times New Roman"/>
                <a:sym typeface="Times New Roman"/>
              </a:rPr>
              <a:t> 2023.</a:t>
            </a:r>
            <a:br>
              <a:rPr lang="en-US" sz="5600">
                <a:latin typeface="Times New Roman"/>
                <a:ea typeface="Times New Roman"/>
                <a:cs typeface="Times New Roman"/>
                <a:sym typeface="Times New Roman"/>
              </a:rPr>
            </a:br>
            <a:r>
              <a:rPr lang="en-US" sz="5600">
                <a:latin typeface="Times New Roman"/>
                <a:ea typeface="Times New Roman"/>
                <a:cs typeface="Times New Roman"/>
                <a:sym typeface="Times New Roman"/>
              </a:rPr>
              <a:t> ReAct combines logical reasoning with action execution, enabling language models to think before interacting with external tools or environments. </a:t>
            </a:r>
            <a:endParaRPr b="1" sz="5600">
              <a:latin typeface="Times New Roman"/>
              <a:ea typeface="Times New Roman"/>
              <a:cs typeface="Times New Roman"/>
              <a:sym typeface="Times New Roman"/>
            </a:endParaRPr>
          </a:p>
        </p:txBody>
      </p:sp>
      <p:pic>
        <p:nvPicPr>
          <p:cNvPr id="137" name="Google Shape;137;p9"/>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