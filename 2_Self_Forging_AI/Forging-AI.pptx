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ADAD65-0FF6-4070-994D-86556FF2FFD9}">
  <a:tblStyle styleId="{F6ADAD65-0FF6-4070-994D-86556FF2FF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457200"/>
            <a:ext cx="7772400" cy="28599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3600"/>
              <a:t>Project  Presentation</a:t>
            </a:r>
            <a:br>
              <a:rPr lang="en-US"/>
            </a:br>
            <a:r>
              <a:rPr lang="en-US" sz="1800"/>
              <a:t>(For Topic Finalization)</a:t>
            </a:r>
            <a:endParaRPr sz="1800"/>
          </a:p>
          <a:p>
            <a:pPr indent="0" lvl="0" marL="0" rtl="0" algn="ctr">
              <a:spcBef>
                <a:spcPts val="0"/>
              </a:spcBef>
              <a:spcAft>
                <a:spcPts val="0"/>
              </a:spcAft>
              <a:buClr>
                <a:schemeClr val="dk1"/>
              </a:buClr>
              <a:buSzPts val="4400"/>
              <a:buFont typeface="Calibri"/>
              <a:buNone/>
            </a:pPr>
            <a:br>
              <a:rPr lang="en-US" sz="1800"/>
            </a:br>
            <a:r>
              <a:rPr b="1" lang="en-US" sz="2400"/>
              <a:t>An Autonomous AI Agent Capable of Creating, Testing and Integrating Its Own Tools </a:t>
            </a:r>
            <a:endParaRPr/>
          </a:p>
        </p:txBody>
      </p:sp>
      <p:pic>
        <p:nvPicPr>
          <p:cNvPr id="85" name="Google Shape;85;p13"/>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
        <p:nvSpPr>
          <p:cNvPr id="86" name="Google Shape;86;p13"/>
          <p:cNvSpPr txBox="1"/>
          <p:nvPr/>
        </p:nvSpPr>
        <p:spPr>
          <a:xfrm>
            <a:off x="685800" y="2905650"/>
            <a:ext cx="7772400" cy="677100"/>
          </a:xfrm>
          <a:prstGeom prst="rect">
            <a:avLst/>
          </a:prstGeom>
          <a:noFill/>
          <a:ln>
            <a:noFill/>
          </a:ln>
        </p:spPr>
        <p:txBody>
          <a:bodyPr anchorCtr="0" anchor="ctr" bIns="91425" lIns="91425" spcFirstLastPara="1" rIns="91425" wrap="square" tIns="91425">
            <a:spAutoFit/>
          </a:bodyPr>
          <a:lstStyle/>
          <a:p>
            <a:pPr indent="0" lvl="0" marL="3200400" rtl="0" algn="l">
              <a:spcBef>
                <a:spcPts val="0"/>
              </a:spcBef>
              <a:spcAft>
                <a:spcPts val="0"/>
              </a:spcAft>
              <a:buClr>
                <a:schemeClr val="dk1"/>
              </a:buClr>
              <a:buSzPts val="4400"/>
              <a:buFont typeface="Calibri"/>
              <a:buNone/>
            </a:pPr>
            <a:r>
              <a:t/>
            </a:r>
            <a:endParaRPr sz="3200">
              <a:solidFill>
                <a:schemeClr val="dk1"/>
              </a:solidFill>
              <a:latin typeface="Calibri"/>
              <a:ea typeface="Calibri"/>
              <a:cs typeface="Calibri"/>
              <a:sym typeface="Calibri"/>
            </a:endParaRPr>
          </a:p>
        </p:txBody>
      </p:sp>
      <p:sp>
        <p:nvSpPr>
          <p:cNvPr id="87" name="Google Shape;87;p13"/>
          <p:cNvSpPr txBox="1"/>
          <p:nvPr/>
        </p:nvSpPr>
        <p:spPr>
          <a:xfrm>
            <a:off x="686576" y="3317100"/>
            <a:ext cx="7772400" cy="1939500"/>
          </a:xfrm>
          <a:prstGeom prst="rect">
            <a:avLst/>
          </a:prstGeom>
          <a:noFill/>
          <a:ln>
            <a:noFill/>
          </a:ln>
        </p:spPr>
        <p:txBody>
          <a:bodyPr anchorCtr="0" anchor="t" bIns="91425" lIns="91425" spcFirstLastPara="1" rIns="91425" wrap="square" tIns="91425">
            <a:spAutoFit/>
          </a:bodyPr>
          <a:lstStyle/>
          <a:p>
            <a:pPr indent="0" lvl="0" marL="2743200" rtl="0" algn="just">
              <a:spcBef>
                <a:spcPts val="0"/>
              </a:spcBef>
              <a:spcAft>
                <a:spcPts val="0"/>
              </a:spcAft>
              <a:buNone/>
            </a:pPr>
            <a:r>
              <a:rPr lang="en-US" sz="2700">
                <a:solidFill>
                  <a:schemeClr val="dk1"/>
                </a:solidFill>
                <a:latin typeface="Calibri"/>
                <a:ea typeface="Calibri"/>
                <a:cs typeface="Calibri"/>
                <a:sym typeface="Calibri"/>
              </a:rPr>
              <a:t>Group ID:05</a:t>
            </a:r>
            <a:endParaRPr sz="2700">
              <a:solidFill>
                <a:schemeClr val="dk1"/>
              </a:solidFill>
              <a:latin typeface="Calibri"/>
              <a:ea typeface="Calibri"/>
              <a:cs typeface="Calibri"/>
              <a:sym typeface="Calibri"/>
            </a:endParaRPr>
          </a:p>
          <a:p>
            <a:pPr indent="0" lvl="0" marL="2743200" rtl="0" algn="l">
              <a:spcBef>
                <a:spcPts val="0"/>
              </a:spcBef>
              <a:spcAft>
                <a:spcPts val="0"/>
              </a:spcAft>
              <a:buNone/>
            </a:pPr>
            <a:r>
              <a:rPr lang="en-US" sz="2700">
                <a:solidFill>
                  <a:schemeClr val="dk1"/>
                </a:solidFill>
                <a:latin typeface="Calibri"/>
                <a:ea typeface="Calibri"/>
                <a:cs typeface="Calibri"/>
                <a:sym typeface="Calibri"/>
              </a:rPr>
              <a:t>Group Members:</a:t>
            </a:r>
            <a:endParaRPr sz="2700">
              <a:solidFill>
                <a:schemeClr val="dk1"/>
              </a:solidFill>
              <a:latin typeface="Calibri"/>
              <a:ea typeface="Calibri"/>
              <a:cs typeface="Calibri"/>
              <a:sym typeface="Calibri"/>
            </a:endParaRPr>
          </a:p>
          <a:p>
            <a:pPr indent="-355600" lvl="0" marL="3200400" rtl="0" algn="l">
              <a:spcBef>
                <a:spcPts val="0"/>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Apurva Patil</a:t>
            </a:r>
            <a:endParaRPr sz="2000">
              <a:solidFill>
                <a:schemeClr val="dk1"/>
              </a:solidFill>
              <a:latin typeface="Calibri"/>
              <a:ea typeface="Calibri"/>
              <a:cs typeface="Calibri"/>
              <a:sym typeface="Calibri"/>
            </a:endParaRPr>
          </a:p>
          <a:p>
            <a:pPr indent="-355600" lvl="0" marL="3200400" rtl="0" algn="l">
              <a:spcBef>
                <a:spcPts val="0"/>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Toshal Zambare</a:t>
            </a:r>
            <a:endParaRPr sz="2000">
              <a:solidFill>
                <a:schemeClr val="dk1"/>
              </a:solidFill>
              <a:latin typeface="Calibri"/>
              <a:ea typeface="Calibri"/>
              <a:cs typeface="Calibri"/>
              <a:sym typeface="Calibri"/>
            </a:endParaRPr>
          </a:p>
          <a:p>
            <a:pPr indent="-355600" lvl="0" marL="3200400" rtl="0" algn="l">
              <a:spcBef>
                <a:spcPts val="0"/>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Sarthak Nalawade</a:t>
            </a:r>
            <a:endParaRPr sz="1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body"/>
          </p:nvPr>
        </p:nvSpPr>
        <p:spPr>
          <a:xfrm>
            <a:off x="457200" y="593725"/>
            <a:ext cx="8229600" cy="422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Abstract</a:t>
            </a:r>
            <a:endParaRPr/>
          </a:p>
          <a:p>
            <a:pPr indent="0" lvl="0" marL="0" rtl="0" algn="just">
              <a:lnSpc>
                <a:spcPct val="115000"/>
              </a:lnSpc>
              <a:spcBef>
                <a:spcPts val="1200"/>
              </a:spcBef>
              <a:spcAft>
                <a:spcPts val="0"/>
              </a:spcAft>
              <a:buNone/>
            </a:pPr>
            <a:r>
              <a:rPr lang="en-US" sz="1300"/>
              <a:t>Most existing AI agents depend on predefined tools and APIs to interact with external systems. When an agent encounters an unsupported API, database, or external service, developers generally need to manually develop and integrate a new tool, which limits the autonomy and scalability of AI agents. This project proposes a </a:t>
            </a:r>
            <a:r>
              <a:rPr b="1" lang="en-US" sz="1300"/>
              <a:t>Self-Forging AI Agent</a:t>
            </a:r>
            <a:r>
              <a:rPr lang="en-US" sz="1300"/>
              <a:t> capable of dynamically creating, testing, repairing, and integrating its own tools at runtime with minimal human intervention. The framework uses a coding-capable Large Language Model (LLM) as its central intelligence. When an unsupported capability is required, the agent generates the necessary tool implementation, executes and validates it within a secure Docker sandbox, automatically attempts to repair detected errors, and registers the validated capability as a reusable tool through the </a:t>
            </a:r>
            <a:r>
              <a:rPr b="1" lang="en-US" sz="1300"/>
              <a:t>Model Context Protocol (MCP)</a:t>
            </a:r>
            <a:r>
              <a:rPr lang="en-US" sz="1300"/>
              <a:t>. The newly created tool can subsequently be reused for future tasks, enabling the agent to progressively expand its functional capabilities. The proposed approach aims to reduce manual tool-development effort and improve the adaptability, scalability, and autonomy of AI agents operating across changing software environments. </a:t>
            </a:r>
            <a:endParaRPr sz="1500"/>
          </a:p>
          <a:p>
            <a:pPr indent="0" lvl="0" marL="0" rtl="0" algn="just">
              <a:lnSpc>
                <a:spcPct val="115000"/>
              </a:lnSpc>
              <a:spcBef>
                <a:spcPts val="1200"/>
              </a:spcBef>
              <a:spcAft>
                <a:spcPts val="1200"/>
              </a:spcAft>
              <a:buNone/>
            </a:pPr>
            <a:r>
              <a:t/>
            </a:r>
            <a:endParaRPr sz="1408"/>
          </a:p>
        </p:txBody>
      </p:sp>
      <p:pic>
        <p:nvPicPr>
          <p:cNvPr id="93" name="Google Shape;93;p14"/>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idx="1" type="body"/>
          </p:nvPr>
        </p:nvSpPr>
        <p:spPr>
          <a:xfrm>
            <a:off x="457200" y="673100"/>
            <a:ext cx="8229600" cy="42891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US"/>
              <a:t>Introduction</a:t>
            </a:r>
            <a:endParaRPr/>
          </a:p>
          <a:p>
            <a:pPr indent="0" lvl="0" marL="0" rtl="0" algn="just">
              <a:lnSpc>
                <a:spcPct val="115000"/>
              </a:lnSpc>
              <a:spcBef>
                <a:spcPts val="1200"/>
              </a:spcBef>
              <a:spcAft>
                <a:spcPts val="0"/>
              </a:spcAft>
              <a:buNone/>
            </a:pPr>
            <a:r>
              <a:rPr lang="en-US" sz="1300"/>
              <a:t>Modern AI agents powered by Large Language Models can reason about user requests and interact with external systems through tools, APIs, databases, and software services. However, these agents usually operate using a predefined collection of tools created by developers. If a required capability is unavailable, the agent may be unable to complete the task without additional human development and integration. A </a:t>
            </a:r>
            <a:r>
              <a:rPr b="1" lang="en-US" sz="1300"/>
              <a:t>Self-Forging AI Agent</a:t>
            </a:r>
            <a:r>
              <a:rPr lang="en-US" sz="1300"/>
              <a:t> extends the conventional tool-using paradigm by allowing an agent to dynamically construct new tools according to task requirements. Instead of only selecting an existing tool, the proposed system identifies missing capabilities, determines the required interface, generates executable code, validates it in an isolated environment, repairs failures, and registers successful implementations for future reuse. This creates a continuous cycle of </a:t>
            </a:r>
            <a:r>
              <a:rPr b="1" lang="en-US" sz="1300"/>
              <a:t>reasoning, tool creation, verification, execution, and reuse</a:t>
            </a:r>
            <a:r>
              <a:rPr lang="en-US" sz="1300"/>
              <a:t>, moving AI agents toward more adaptive and self-expanding systems. </a:t>
            </a:r>
            <a:endParaRPr sz="1700"/>
          </a:p>
          <a:p>
            <a:pPr indent="0" lvl="0" marL="0" rtl="0" algn="just">
              <a:lnSpc>
                <a:spcPct val="115000"/>
              </a:lnSpc>
              <a:spcBef>
                <a:spcPts val="1200"/>
              </a:spcBef>
              <a:spcAft>
                <a:spcPts val="0"/>
              </a:spcAft>
              <a:buClr>
                <a:schemeClr val="dk1"/>
              </a:buClr>
              <a:buSzPts val="1100"/>
              <a:buFont typeface="Arial"/>
              <a:buNone/>
            </a:pPr>
            <a:r>
              <a:t/>
            </a:r>
            <a:endParaRPr b="1" sz="1300">
              <a:latin typeface="Arial"/>
              <a:ea typeface="Arial"/>
              <a:cs typeface="Arial"/>
              <a:sym typeface="Arial"/>
            </a:endParaRPr>
          </a:p>
          <a:p>
            <a:pPr indent="0" lvl="0" marL="342900" rtl="0" algn="l">
              <a:spcBef>
                <a:spcPts val="1200"/>
              </a:spcBef>
              <a:spcAft>
                <a:spcPts val="0"/>
              </a:spcAft>
              <a:buNone/>
            </a:pPr>
            <a:r>
              <a:t/>
            </a:r>
            <a:endParaRPr b="1"/>
          </a:p>
        </p:txBody>
      </p:sp>
      <p:pic>
        <p:nvPicPr>
          <p:cNvPr id="99" name="Google Shape;99;p15"/>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1" type="body"/>
          </p:nvPr>
        </p:nvSpPr>
        <p:spPr>
          <a:xfrm>
            <a:off x="458000" y="559700"/>
            <a:ext cx="8218800" cy="4182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Problem Statement</a:t>
            </a:r>
            <a:endParaRPr/>
          </a:p>
          <a:p>
            <a:pPr indent="0" lvl="0" marL="0" rtl="0" algn="l">
              <a:spcBef>
                <a:spcPts val="0"/>
              </a:spcBef>
              <a:spcAft>
                <a:spcPts val="0"/>
              </a:spcAft>
              <a:buNone/>
            </a:pPr>
            <a:r>
              <a:t/>
            </a:r>
            <a:endParaRPr sz="300"/>
          </a:p>
          <a:p>
            <a:pPr indent="0" lvl="0" marL="0" rtl="0" algn="l">
              <a:lnSpc>
                <a:spcPct val="115000"/>
              </a:lnSpc>
              <a:spcBef>
                <a:spcPts val="1200"/>
              </a:spcBef>
              <a:spcAft>
                <a:spcPts val="0"/>
              </a:spcAft>
              <a:buClr>
                <a:schemeClr val="dk1"/>
              </a:buClr>
              <a:buSzPts val="1100"/>
              <a:buFont typeface="Arial"/>
              <a:buNone/>
            </a:pPr>
            <a:r>
              <a:rPr lang="en-US" sz="1308"/>
              <a:t>Current AI agent systems largely depend on </a:t>
            </a:r>
            <a:r>
              <a:rPr b="1" lang="en-US" sz="1308"/>
              <a:t>fixed and predefined tool libraries</a:t>
            </a:r>
            <a:r>
              <a:rPr lang="en-US" sz="1308"/>
              <a:t> to interact with APIs, databases, and external services. When an unsupported system or new capability is encountered, developers must manually design and integrate the required tools, increasing development effort and limiting agent adaptability. Although LLMs can dynamically generate code, such code may contain </a:t>
            </a:r>
            <a:r>
              <a:rPr b="1" lang="en-US" sz="1308"/>
              <a:t>syntax, logical, interface, or runtime errors</a:t>
            </a:r>
            <a:r>
              <a:rPr lang="en-US" sz="1308"/>
              <a:t>, making one-shot tool generation unreliable. Furthermore, dynamically generated tools must be safely tested and validated before execution, while many existing approaches create temporary task-specific scripts rather than persistent and reusable capabilities.</a:t>
            </a:r>
            <a:endParaRPr sz="1308"/>
          </a:p>
          <a:p>
            <a:pPr indent="0" lvl="0" marL="0" rtl="0" algn="l">
              <a:lnSpc>
                <a:spcPct val="115000"/>
              </a:lnSpc>
              <a:spcBef>
                <a:spcPts val="1200"/>
              </a:spcBef>
              <a:spcAft>
                <a:spcPts val="0"/>
              </a:spcAft>
              <a:buClr>
                <a:schemeClr val="dk1"/>
              </a:buClr>
              <a:buSzPts val="1100"/>
              <a:buFont typeface="Arial"/>
              <a:buNone/>
            </a:pPr>
            <a:r>
              <a:rPr b="1" lang="en-US" sz="1308"/>
              <a:t>Therefore, there is a need for a self-forging AI agent that can autonomously identify missing capabilities, generate the required tools, securely test and repair them, and permanently integrate validated tools for reuse in future tasks with minimal human intervention.</a:t>
            </a:r>
            <a:endParaRPr b="1" sz="1308"/>
          </a:p>
          <a:p>
            <a:pPr indent="0" lvl="0" marL="0" rtl="0" algn="l">
              <a:spcBef>
                <a:spcPts val="1200"/>
              </a:spcBef>
              <a:spcAft>
                <a:spcPts val="0"/>
              </a:spcAft>
              <a:buNone/>
            </a:pPr>
            <a:r>
              <a:t/>
            </a:r>
            <a:endParaRPr/>
          </a:p>
        </p:txBody>
      </p:sp>
      <p:pic>
        <p:nvPicPr>
          <p:cNvPr id="105" name="Google Shape;105;p16"/>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idx="1" type="body"/>
          </p:nvPr>
        </p:nvSpPr>
        <p:spPr>
          <a:xfrm>
            <a:off x="441475" y="577025"/>
            <a:ext cx="8239800" cy="4917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Objectives</a:t>
            </a:r>
            <a:endParaRPr/>
          </a:p>
          <a:p>
            <a:pPr indent="0" lvl="0" marL="457200" rtl="0" algn="l">
              <a:spcBef>
                <a:spcPts val="0"/>
              </a:spcBef>
              <a:spcAft>
                <a:spcPts val="0"/>
              </a:spcAft>
              <a:buNone/>
            </a:pPr>
            <a:r>
              <a:t/>
            </a:r>
            <a:endParaRPr sz="1300"/>
          </a:p>
          <a:p>
            <a:pPr indent="-311150" lvl="0" marL="342900" rtl="0" algn="l">
              <a:lnSpc>
                <a:spcPct val="150000"/>
              </a:lnSpc>
              <a:spcBef>
                <a:spcPts val="0"/>
              </a:spcBef>
              <a:spcAft>
                <a:spcPts val="0"/>
              </a:spcAft>
              <a:buSzPts val="1300"/>
              <a:buFont typeface="Calibri"/>
              <a:buAutoNum type="arabicPeriod"/>
            </a:pPr>
            <a:r>
              <a:rPr lang="en-US" sz="1300"/>
              <a:t>To identify whether the current tool library can satisfy a user's request.</a:t>
            </a:r>
            <a:endParaRPr sz="1300"/>
          </a:p>
          <a:p>
            <a:pPr indent="-311150" lvl="0" marL="342900" rtl="0" algn="l">
              <a:lnSpc>
                <a:spcPct val="150000"/>
              </a:lnSpc>
              <a:spcBef>
                <a:spcPts val="0"/>
              </a:spcBef>
              <a:spcAft>
                <a:spcPts val="0"/>
              </a:spcAft>
              <a:buSzPts val="1300"/>
              <a:buFont typeface="Calibri"/>
              <a:buAutoNum type="arabicPeriod"/>
            </a:pPr>
            <a:r>
              <a:rPr lang="en-US" sz="1300"/>
              <a:t>To detect </a:t>
            </a:r>
            <a:r>
              <a:rPr b="1" lang="en-US" sz="1300"/>
              <a:t>missing capabilities</a:t>
            </a:r>
            <a:r>
              <a:rPr lang="en-US" sz="1300"/>
              <a:t> automatically.</a:t>
            </a:r>
            <a:endParaRPr sz="1300"/>
          </a:p>
          <a:p>
            <a:pPr indent="-311150" lvl="0" marL="342900" rtl="0" algn="l">
              <a:lnSpc>
                <a:spcPct val="150000"/>
              </a:lnSpc>
              <a:spcBef>
                <a:spcPts val="0"/>
              </a:spcBef>
              <a:spcAft>
                <a:spcPts val="0"/>
              </a:spcAft>
              <a:buSzPts val="1300"/>
              <a:buFont typeface="Calibri"/>
              <a:buAutoNum type="arabicPeriod"/>
            </a:pPr>
            <a:r>
              <a:rPr lang="en-US" sz="1300"/>
              <a:t>To use an LLM to determine the functionality required from a new tool.</a:t>
            </a:r>
            <a:endParaRPr sz="1300"/>
          </a:p>
          <a:p>
            <a:pPr indent="-311150" lvl="0" marL="342900" rtl="0" algn="l">
              <a:lnSpc>
                <a:spcPct val="150000"/>
              </a:lnSpc>
              <a:spcBef>
                <a:spcPts val="0"/>
              </a:spcBef>
              <a:spcAft>
                <a:spcPts val="0"/>
              </a:spcAft>
              <a:buSzPts val="1300"/>
              <a:buFont typeface="Calibri"/>
              <a:buAutoNum type="arabicPeriod"/>
            </a:pPr>
            <a:r>
              <a:rPr lang="en-US" sz="1300"/>
              <a:t>To dynamically generate executable Python tools.</a:t>
            </a:r>
            <a:endParaRPr sz="1300"/>
          </a:p>
          <a:p>
            <a:pPr indent="-311150" lvl="0" marL="342900" rtl="0" algn="l">
              <a:lnSpc>
                <a:spcPct val="150000"/>
              </a:lnSpc>
              <a:spcBef>
                <a:spcPts val="0"/>
              </a:spcBef>
              <a:spcAft>
                <a:spcPts val="0"/>
              </a:spcAft>
              <a:buSzPts val="1300"/>
              <a:buFont typeface="Calibri"/>
              <a:buAutoNum type="arabicPeriod"/>
            </a:pPr>
            <a:r>
              <a:rPr lang="en-US" sz="1300"/>
              <a:t>To automatically construct appropriate tool interfaces and schemas.</a:t>
            </a:r>
            <a:endParaRPr sz="1300"/>
          </a:p>
          <a:p>
            <a:pPr indent="-311150" lvl="0" marL="342900" rtl="0" algn="l">
              <a:lnSpc>
                <a:spcPct val="150000"/>
              </a:lnSpc>
              <a:spcBef>
                <a:spcPts val="0"/>
              </a:spcBef>
              <a:spcAft>
                <a:spcPts val="0"/>
              </a:spcAft>
              <a:buSzPts val="1300"/>
              <a:buFont typeface="Calibri"/>
              <a:buAutoNum type="arabicPeriod"/>
            </a:pPr>
            <a:r>
              <a:rPr lang="en-US" sz="1300"/>
              <a:t>To execute generated tools inside an </a:t>
            </a:r>
            <a:r>
              <a:rPr b="1" lang="en-US" sz="1300"/>
              <a:t>isolated Docker sandbox</a:t>
            </a:r>
            <a:r>
              <a:rPr lang="en-US" sz="1300"/>
              <a:t>.</a:t>
            </a:r>
            <a:endParaRPr sz="1300"/>
          </a:p>
          <a:p>
            <a:pPr indent="-311150" lvl="0" marL="342900" rtl="0" algn="l">
              <a:lnSpc>
                <a:spcPct val="150000"/>
              </a:lnSpc>
              <a:spcBef>
                <a:spcPts val="0"/>
              </a:spcBef>
              <a:spcAft>
                <a:spcPts val="0"/>
              </a:spcAft>
              <a:buSzPts val="1300"/>
              <a:buFont typeface="Calibri"/>
              <a:buAutoNum type="arabicPeriod"/>
            </a:pPr>
            <a:r>
              <a:rPr lang="en-US" sz="1300"/>
              <a:t>To automatically detect syntax, runtime, and functional errors.</a:t>
            </a:r>
            <a:endParaRPr sz="1300"/>
          </a:p>
          <a:p>
            <a:pPr indent="-311150" lvl="0" marL="342900" rtl="0" algn="l">
              <a:lnSpc>
                <a:spcPct val="150000"/>
              </a:lnSpc>
              <a:spcBef>
                <a:spcPts val="0"/>
              </a:spcBef>
              <a:spcAft>
                <a:spcPts val="0"/>
              </a:spcAft>
              <a:buSzPts val="1300"/>
              <a:buFont typeface="Calibri"/>
              <a:buAutoNum type="arabicPeriod"/>
            </a:pPr>
            <a:r>
              <a:rPr lang="en-US" sz="1300"/>
              <a:t>To implement a </a:t>
            </a:r>
            <a:r>
              <a:rPr b="1" lang="en-US" sz="1300"/>
              <a:t>self-repair feedback loop</a:t>
            </a:r>
            <a:r>
              <a:rPr lang="en-US" sz="1300"/>
              <a:t> for failed tools.</a:t>
            </a:r>
            <a:endParaRPr sz="1300"/>
          </a:p>
          <a:p>
            <a:pPr indent="-311150" lvl="0" marL="342900" rtl="0" algn="l">
              <a:lnSpc>
                <a:spcPct val="150000"/>
              </a:lnSpc>
              <a:spcBef>
                <a:spcPts val="0"/>
              </a:spcBef>
              <a:spcAft>
                <a:spcPts val="0"/>
              </a:spcAft>
              <a:buSzPts val="1300"/>
              <a:buFont typeface="Calibri"/>
              <a:buAutoNum type="arabicPeriod"/>
            </a:pPr>
            <a:r>
              <a:rPr lang="en-US" sz="1300"/>
              <a:t>To validate generated tools using automated test cases.</a:t>
            </a:r>
            <a:endParaRPr sz="1300"/>
          </a:p>
          <a:p>
            <a:pPr indent="-311150" lvl="0" marL="342900" rtl="0" algn="l">
              <a:lnSpc>
                <a:spcPct val="150000"/>
              </a:lnSpc>
              <a:spcBef>
                <a:spcPts val="0"/>
              </a:spcBef>
              <a:spcAft>
                <a:spcPts val="0"/>
              </a:spcAft>
              <a:buSzPts val="1300"/>
              <a:buFont typeface="Calibri"/>
              <a:buAutoNum type="arabicPeriod"/>
            </a:pPr>
            <a:r>
              <a:rPr lang="en-US" sz="1300"/>
              <a:t>To register successfully validated tools using </a:t>
            </a:r>
            <a:r>
              <a:rPr b="1" lang="en-US" sz="1300"/>
              <a:t>MCP</a:t>
            </a:r>
            <a:r>
              <a:rPr lang="en-US" sz="1300"/>
              <a:t>.</a:t>
            </a:r>
            <a:endParaRPr sz="1300"/>
          </a:p>
          <a:p>
            <a:pPr indent="-311150" lvl="0" marL="342900" rtl="0" algn="l">
              <a:lnSpc>
                <a:spcPct val="150000"/>
              </a:lnSpc>
              <a:spcBef>
                <a:spcPts val="0"/>
              </a:spcBef>
              <a:spcAft>
                <a:spcPts val="0"/>
              </a:spcAft>
              <a:buSzPts val="1300"/>
              <a:buFont typeface="Calibri"/>
              <a:buAutoNum type="arabicPeriod"/>
            </a:pPr>
            <a:r>
              <a:rPr lang="en-US" sz="1300"/>
              <a:t>To maintain a persistent </a:t>
            </a:r>
            <a:r>
              <a:rPr b="1" lang="en-US" sz="1300"/>
              <a:t>Tool Registry</a:t>
            </a:r>
            <a:r>
              <a:rPr lang="en-US" sz="1300"/>
              <a:t> for future reuse.</a:t>
            </a:r>
            <a:endParaRPr sz="1300"/>
          </a:p>
          <a:p>
            <a:pPr indent="-311150" lvl="0" marL="342900" rtl="0" algn="l">
              <a:lnSpc>
                <a:spcPct val="150000"/>
              </a:lnSpc>
              <a:spcBef>
                <a:spcPts val="0"/>
              </a:spcBef>
              <a:spcAft>
                <a:spcPts val="0"/>
              </a:spcAft>
              <a:buSzPts val="1300"/>
              <a:buFont typeface="Calibri"/>
              <a:buAutoNum type="arabicPeriod"/>
            </a:pPr>
            <a:r>
              <a:rPr lang="en-US" sz="1300"/>
              <a:t>To enable the agent's capabilities to expand progressively over time.</a:t>
            </a:r>
            <a:endParaRPr sz="1300"/>
          </a:p>
        </p:txBody>
      </p:sp>
      <p:pic>
        <p:nvPicPr>
          <p:cNvPr id="111" name="Google Shape;111;p17"/>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System Architecture</a:t>
            </a:r>
            <a:endParaRPr/>
          </a:p>
          <a:p>
            <a:pPr indent="0" lvl="0" marL="342900" rtl="0" algn="l">
              <a:spcBef>
                <a:spcPts val="0"/>
              </a:spcBef>
              <a:spcAft>
                <a:spcPts val="0"/>
              </a:spcAft>
              <a:buNone/>
            </a:pPr>
            <a:r>
              <a:t/>
            </a:r>
            <a:endParaRPr/>
          </a:p>
        </p:txBody>
      </p:sp>
      <p:pic>
        <p:nvPicPr>
          <p:cNvPr id="117" name="Google Shape;117;p18"/>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pic>
        <p:nvPicPr>
          <p:cNvPr id="118" name="Google Shape;118;p18" title="ChatGPT Image Jul 29, 2026, 05_00_01 PM.png"/>
          <p:cNvPicPr preferRelativeResize="0"/>
          <p:nvPr/>
        </p:nvPicPr>
        <p:blipFill rotWithShape="1">
          <a:blip r:embed="rId4">
            <a:alphaModFix/>
          </a:blip>
          <a:srcRect b="10031" l="0" r="0" t="0"/>
          <a:stretch/>
        </p:blipFill>
        <p:spPr>
          <a:xfrm>
            <a:off x="2710250" y="1003925"/>
            <a:ext cx="3768599" cy="4475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idx="1" type="body"/>
          </p:nvPr>
        </p:nvSpPr>
        <p:spPr>
          <a:xfrm>
            <a:off x="457200" y="381000"/>
            <a:ext cx="8229600" cy="62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Requirements</a:t>
            </a:r>
            <a:r>
              <a:rPr lang="en-US"/>
              <a:t>  </a:t>
            </a:r>
            <a:r>
              <a:rPr lang="en-US" sz="2800"/>
              <a:t>                      </a:t>
            </a:r>
            <a:endParaRPr sz="2800">
              <a:latin typeface="Arial"/>
              <a:ea typeface="Arial"/>
              <a:cs typeface="Arial"/>
              <a:sym typeface="Arial"/>
            </a:endParaRPr>
          </a:p>
          <a:p>
            <a:pPr indent="0" lvl="0" marL="342900" rtl="0" algn="l">
              <a:spcBef>
                <a:spcPts val="0"/>
              </a:spcBef>
              <a:spcAft>
                <a:spcPts val="0"/>
              </a:spcAft>
              <a:buNone/>
            </a:pPr>
            <a:r>
              <a:t/>
            </a:r>
            <a:endParaRPr/>
          </a:p>
        </p:txBody>
      </p:sp>
      <p:pic>
        <p:nvPicPr>
          <p:cNvPr id="124" name="Google Shape;124;p19"/>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graphicFrame>
        <p:nvGraphicFramePr>
          <p:cNvPr id="125" name="Google Shape;125;p19"/>
          <p:cNvGraphicFramePr/>
          <p:nvPr/>
        </p:nvGraphicFramePr>
        <p:xfrm>
          <a:off x="953288" y="1251850"/>
          <a:ext cx="3000000" cy="3000000"/>
        </p:xfrm>
        <a:graphic>
          <a:graphicData uri="http://schemas.openxmlformats.org/drawingml/2006/table">
            <a:tbl>
              <a:tblPr>
                <a:noFill/>
                <a:tableStyleId>{F6ADAD65-0FF6-4070-994D-86556FF2FFD9}</a:tableStyleId>
              </a:tblPr>
              <a:tblGrid>
                <a:gridCol w="3619500"/>
                <a:gridCol w="3619500"/>
              </a:tblGrid>
              <a:tr h="601225">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Hardware</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Software</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Laptop/Desktop </a:t>
                      </a:r>
                      <a:r>
                        <a:rPr lang="en-US" sz="1300">
                          <a:solidFill>
                            <a:schemeClr val="dk1"/>
                          </a:solidFill>
                          <a:latin typeface="Calibri"/>
                          <a:ea typeface="Calibri"/>
                          <a:cs typeface="Calibri"/>
                          <a:sym typeface="Calibri"/>
                        </a:rPr>
                        <a:t> </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rtl="0" algn="l">
                        <a:spcBef>
                          <a:spcPts val="0"/>
                        </a:spcBef>
                        <a:spcAft>
                          <a:spcPts val="0"/>
                        </a:spcAft>
                        <a:buSzPts val="1400"/>
                        <a:buFont typeface="Calibri"/>
                        <a:buChar char="●"/>
                      </a:pPr>
                      <a:r>
                        <a:rPr lang="en-US">
                          <a:latin typeface="Calibri"/>
                          <a:ea typeface="Calibri"/>
                          <a:cs typeface="Calibri"/>
                          <a:sym typeface="Calibri"/>
                        </a:rPr>
                        <a:t>Python</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Ram 16GB</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rtl="0" algn="l">
                        <a:spcBef>
                          <a:spcPts val="0"/>
                        </a:spcBef>
                        <a:spcAft>
                          <a:spcPts val="0"/>
                        </a:spcAft>
                        <a:buSzPts val="1400"/>
                        <a:buFont typeface="Calibri"/>
                        <a:buChar char="●"/>
                      </a:pPr>
                      <a:r>
                        <a:rPr lang="en-US">
                          <a:latin typeface="Calibri"/>
                          <a:ea typeface="Calibri"/>
                          <a:cs typeface="Calibri"/>
                          <a:sym typeface="Calibri"/>
                        </a:rPr>
                        <a:t>LangChain / LangGraph </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06550">
                <a:tc>
                  <a:txBody>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Multi-core CPU</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rtl="0" algn="l">
                        <a:spcBef>
                          <a:spcPts val="0"/>
                        </a:spcBef>
                        <a:spcAft>
                          <a:spcPts val="0"/>
                        </a:spcAft>
                        <a:buSzPts val="1400"/>
                        <a:buFont typeface="Calibri"/>
                        <a:buChar char="●"/>
                      </a:pPr>
                      <a:r>
                        <a:rPr lang="en-US">
                          <a:latin typeface="Calibri"/>
                          <a:ea typeface="Calibri"/>
                          <a:cs typeface="Calibri"/>
                          <a:sym typeface="Calibri"/>
                        </a:rPr>
                        <a:t>LLM APIs or Open-Source LLMs </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630750">
                <a:tc>
                  <a:txBody>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GPU</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317500" lvl="0" marL="457200" rtl="0" algn="l">
                        <a:spcBef>
                          <a:spcPts val="0"/>
                        </a:spcBef>
                        <a:spcAft>
                          <a:spcPts val="0"/>
                        </a:spcAft>
                        <a:buSzPts val="1400"/>
                        <a:buFont typeface="Calibri"/>
                        <a:buChar char="●"/>
                      </a:pPr>
                      <a:r>
                        <a:rPr lang="en-US">
                          <a:latin typeface="Calibri"/>
                          <a:ea typeface="Calibri"/>
                          <a:cs typeface="Calibri"/>
                          <a:sym typeface="Calibri"/>
                        </a:rPr>
                        <a:t>SQLite / PostgreSQL </a:t>
                      </a:r>
                      <a:r>
                        <a:rPr lang="en-US">
                          <a:latin typeface="Calibri"/>
                          <a:ea typeface="Calibri"/>
                          <a:cs typeface="Calibri"/>
                          <a:sym typeface="Calibri"/>
                        </a:rPr>
                        <a:t> , Git &amp; GitHub </a:t>
                      </a:r>
                      <a:endParaRPr>
                        <a:latin typeface="Calibri"/>
                        <a:ea typeface="Calibri"/>
                        <a:cs typeface="Calibri"/>
                        <a:sym typeface="Calibri"/>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idx="1" type="body"/>
          </p:nvPr>
        </p:nvSpPr>
        <p:spPr>
          <a:xfrm>
            <a:off x="457200" y="533400"/>
            <a:ext cx="8229600" cy="4841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Expected Outcome</a:t>
            </a:r>
            <a:endParaRPr/>
          </a:p>
          <a:p>
            <a:pPr indent="-323850" lvl="0" marL="457200" rtl="0" algn="l">
              <a:lnSpc>
                <a:spcPct val="150000"/>
              </a:lnSpc>
              <a:spcBef>
                <a:spcPts val="1200"/>
              </a:spcBef>
              <a:spcAft>
                <a:spcPts val="0"/>
              </a:spcAft>
              <a:buSzPts val="1500"/>
              <a:buFont typeface="Calibri"/>
              <a:buAutoNum type="arabicPeriod"/>
            </a:pPr>
            <a:r>
              <a:rPr lang="en-US" sz="1300"/>
              <a:t>An AI agent capable of recognizing when a required tool is unavailable.</a:t>
            </a:r>
            <a:endParaRPr sz="1300"/>
          </a:p>
          <a:p>
            <a:pPr indent="-323850" lvl="0" marL="457200" rtl="0" algn="l">
              <a:lnSpc>
                <a:spcPct val="150000"/>
              </a:lnSpc>
              <a:spcBef>
                <a:spcPts val="0"/>
              </a:spcBef>
              <a:spcAft>
                <a:spcPts val="0"/>
              </a:spcAft>
              <a:buSzPts val="1500"/>
              <a:buFont typeface="Calibri"/>
              <a:buAutoNum type="arabicPeriod"/>
            </a:pPr>
            <a:r>
              <a:rPr lang="en-US" sz="1300"/>
              <a:t>Automatic generation of new tool interfaces and executable code.</a:t>
            </a:r>
            <a:endParaRPr sz="1300"/>
          </a:p>
          <a:p>
            <a:pPr indent="-323850" lvl="0" marL="457200" rtl="0" algn="l">
              <a:lnSpc>
                <a:spcPct val="150000"/>
              </a:lnSpc>
              <a:spcBef>
                <a:spcPts val="0"/>
              </a:spcBef>
              <a:spcAft>
                <a:spcPts val="0"/>
              </a:spcAft>
              <a:buSzPts val="1500"/>
              <a:buFont typeface="Calibri"/>
              <a:buAutoNum type="arabicPeriod"/>
            </a:pPr>
            <a:r>
              <a:rPr lang="en-US" sz="1300"/>
              <a:t>Secure testing of dynamically generated tools.</a:t>
            </a:r>
            <a:endParaRPr sz="1300"/>
          </a:p>
          <a:p>
            <a:pPr indent="-323850" lvl="0" marL="457200" rtl="0" algn="l">
              <a:lnSpc>
                <a:spcPct val="150000"/>
              </a:lnSpc>
              <a:spcBef>
                <a:spcPts val="0"/>
              </a:spcBef>
              <a:spcAft>
                <a:spcPts val="0"/>
              </a:spcAft>
              <a:buSzPts val="1500"/>
              <a:buFont typeface="Calibri"/>
              <a:buAutoNum type="arabicPeriod"/>
            </a:pPr>
            <a:r>
              <a:rPr lang="en-US" sz="1300"/>
              <a:t>Automated detection and repair of tool failures.</a:t>
            </a:r>
            <a:endParaRPr sz="1300"/>
          </a:p>
          <a:p>
            <a:pPr indent="-323850" lvl="0" marL="457200" rtl="0" algn="l">
              <a:lnSpc>
                <a:spcPct val="150000"/>
              </a:lnSpc>
              <a:spcBef>
                <a:spcPts val="0"/>
              </a:spcBef>
              <a:spcAft>
                <a:spcPts val="0"/>
              </a:spcAft>
              <a:buSzPts val="1500"/>
              <a:buFont typeface="Calibri"/>
              <a:buAutoNum type="arabicPeriod"/>
            </a:pPr>
            <a:r>
              <a:rPr lang="en-US" sz="1300"/>
              <a:t>MCP-based registration of validated tools.</a:t>
            </a:r>
            <a:endParaRPr sz="1300"/>
          </a:p>
          <a:p>
            <a:pPr indent="-323850" lvl="0" marL="457200" rtl="0" algn="l">
              <a:lnSpc>
                <a:spcPct val="150000"/>
              </a:lnSpc>
              <a:spcBef>
                <a:spcPts val="0"/>
              </a:spcBef>
              <a:spcAft>
                <a:spcPts val="0"/>
              </a:spcAft>
              <a:buSzPts val="1500"/>
              <a:buFont typeface="Calibri"/>
              <a:buAutoNum type="arabicPeriod"/>
            </a:pPr>
            <a:r>
              <a:rPr lang="en-US" sz="1300"/>
              <a:t>Persistent storage and reuse of previously created capabilities.</a:t>
            </a:r>
            <a:endParaRPr sz="1300"/>
          </a:p>
          <a:p>
            <a:pPr indent="-323850" lvl="0" marL="457200" rtl="0" algn="l">
              <a:lnSpc>
                <a:spcPct val="150000"/>
              </a:lnSpc>
              <a:spcBef>
                <a:spcPts val="0"/>
              </a:spcBef>
              <a:spcAft>
                <a:spcPts val="0"/>
              </a:spcAft>
              <a:buSzPts val="1500"/>
              <a:buFont typeface="Calibri"/>
              <a:buAutoNum type="arabicPeriod"/>
            </a:pPr>
            <a:r>
              <a:rPr lang="en-US" sz="1300"/>
              <a:t>Reduced dependence on manually developed integrations.</a:t>
            </a:r>
            <a:endParaRPr sz="1300"/>
          </a:p>
          <a:p>
            <a:pPr indent="-323850" lvl="0" marL="457200" rtl="0" algn="l">
              <a:lnSpc>
                <a:spcPct val="150000"/>
              </a:lnSpc>
              <a:spcBef>
                <a:spcPts val="0"/>
              </a:spcBef>
              <a:spcAft>
                <a:spcPts val="0"/>
              </a:spcAft>
              <a:buSzPts val="1500"/>
              <a:buFont typeface="Calibri"/>
              <a:buAutoNum type="arabicPeriod"/>
            </a:pPr>
            <a:r>
              <a:rPr lang="en-US" sz="1300"/>
              <a:t>Improved adaptability to new APIs, databases, and software environments.</a:t>
            </a:r>
            <a:endParaRPr sz="1300"/>
          </a:p>
          <a:p>
            <a:pPr indent="-323850" lvl="0" marL="457200" rtl="0" algn="l">
              <a:lnSpc>
                <a:spcPct val="150000"/>
              </a:lnSpc>
              <a:spcBef>
                <a:spcPts val="0"/>
              </a:spcBef>
              <a:spcAft>
                <a:spcPts val="0"/>
              </a:spcAft>
              <a:buSzPts val="1500"/>
              <a:buAutoNum type="arabicPeriod"/>
            </a:pPr>
            <a:r>
              <a:rPr lang="en-US" sz="1300"/>
              <a:t>Creation of a continuously expanding </a:t>
            </a:r>
            <a:r>
              <a:rPr b="1" lang="en-US" sz="1300"/>
              <a:t>tool ecosystem</a:t>
            </a:r>
            <a:r>
              <a:rPr lang="en-US" sz="1300"/>
              <a:t>.</a:t>
            </a:r>
            <a:endParaRPr sz="1300"/>
          </a:p>
          <a:p>
            <a:pPr indent="-323850" lvl="0" marL="457200" rtl="0" algn="l">
              <a:lnSpc>
                <a:spcPct val="150000"/>
              </a:lnSpc>
              <a:spcBef>
                <a:spcPts val="0"/>
              </a:spcBef>
              <a:spcAft>
                <a:spcPts val="0"/>
              </a:spcAft>
              <a:buSzPts val="1500"/>
              <a:buAutoNum type="arabicPeriod"/>
            </a:pPr>
            <a:r>
              <a:rPr lang="en-US" sz="1300"/>
              <a:t>A practical prototype demonstrating </a:t>
            </a:r>
            <a:r>
              <a:rPr b="1" lang="en-US" sz="1300"/>
              <a:t>self-expanding AI capabilities</a:t>
            </a:r>
            <a:r>
              <a:rPr lang="en-US" sz="1300"/>
              <a:t>.</a:t>
            </a:r>
            <a:endParaRPr sz="1300"/>
          </a:p>
          <a:p>
            <a:pPr indent="0" lvl="0" marL="0" rtl="0" algn="l">
              <a:lnSpc>
                <a:spcPct val="150000"/>
              </a:lnSpc>
              <a:spcBef>
                <a:spcPts val="1200"/>
              </a:spcBef>
              <a:spcAft>
                <a:spcPts val="1200"/>
              </a:spcAft>
              <a:buNone/>
            </a:pPr>
            <a:r>
              <a:t/>
            </a:r>
            <a:endParaRPr sz="1300"/>
          </a:p>
        </p:txBody>
      </p:sp>
      <p:pic>
        <p:nvPicPr>
          <p:cNvPr id="131" name="Google Shape;131;p20"/>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idx="1" type="body"/>
          </p:nvPr>
        </p:nvSpPr>
        <p:spPr>
          <a:xfrm>
            <a:off x="457200" y="533400"/>
            <a:ext cx="8229600" cy="5029200"/>
          </a:xfrm>
          <a:prstGeom prst="rect">
            <a:avLst/>
          </a:prstGeom>
          <a:noFill/>
          <a:ln>
            <a:noFill/>
          </a:ln>
        </p:spPr>
        <p:txBody>
          <a:bodyPr anchorCtr="0" anchor="t" bIns="45700" lIns="91425" spcFirstLastPara="1" rIns="91425" wrap="square" tIns="45700">
            <a:normAutofit fontScale="25000" lnSpcReduction="10000"/>
          </a:bodyPr>
          <a:lstStyle/>
          <a:p>
            <a:pPr indent="0" lvl="0" marL="0" rtl="0" algn="l">
              <a:lnSpc>
                <a:spcPct val="150000"/>
              </a:lnSpc>
              <a:spcBef>
                <a:spcPts val="0"/>
              </a:spcBef>
              <a:spcAft>
                <a:spcPts val="0"/>
              </a:spcAft>
              <a:buNone/>
            </a:pPr>
            <a:r>
              <a:rPr lang="en-US" sz="12800"/>
              <a:t>References:</a:t>
            </a:r>
            <a:endParaRPr sz="12800"/>
          </a:p>
          <a:p>
            <a:pPr indent="0" lvl="0" marL="0" rtl="0" algn="l">
              <a:lnSpc>
                <a:spcPct val="115000"/>
              </a:lnSpc>
              <a:spcBef>
                <a:spcPts val="1200"/>
              </a:spcBef>
              <a:spcAft>
                <a:spcPts val="0"/>
              </a:spcAft>
              <a:buNone/>
            </a:pPr>
            <a:r>
              <a:rPr b="1" lang="en-US" sz="5200"/>
              <a:t>[1]</a:t>
            </a:r>
            <a:r>
              <a:rPr lang="en-US" sz="5200"/>
              <a:t> </a:t>
            </a:r>
            <a:r>
              <a:rPr b="1" lang="en-US" sz="5200"/>
              <a:t>B. Xia et al.,</a:t>
            </a:r>
            <a:r>
              <a:rPr lang="en-US" sz="5200"/>
              <a:t> </a:t>
            </a:r>
            <a:r>
              <a:rPr i="1" lang="en-US" sz="5200"/>
              <a:t>"Tool-Genesis: A Task-Driven Tool Creation Benchmark for Self-Evolving Language Agent,"</a:t>
            </a:r>
            <a:r>
              <a:rPr lang="en-US" sz="5200"/>
              <a:t> arXiv:2603.05578, 2026.</a:t>
            </a:r>
            <a:br>
              <a:rPr lang="en-US" sz="5200"/>
            </a:br>
            <a:r>
              <a:rPr lang="en-US" sz="5200"/>
              <a:t> This paper introduces </a:t>
            </a:r>
            <a:r>
              <a:rPr b="1" lang="en-US" sz="5200"/>
              <a:t>Tool-Genesis</a:t>
            </a:r>
            <a:r>
              <a:rPr lang="en-US" sz="5200"/>
              <a:t>, a benchmark for evaluating language agents that can autonomously create, improve, and reuse software tools. </a:t>
            </a:r>
            <a:endParaRPr sz="5200"/>
          </a:p>
          <a:p>
            <a:pPr indent="0" lvl="0" marL="0" rtl="0" algn="l">
              <a:lnSpc>
                <a:spcPct val="115000"/>
              </a:lnSpc>
              <a:spcBef>
                <a:spcPts val="1200"/>
              </a:spcBef>
              <a:spcAft>
                <a:spcPts val="0"/>
              </a:spcAft>
              <a:buNone/>
            </a:pPr>
            <a:r>
              <a:rPr b="1" lang="en-US" sz="5200"/>
              <a:t>[2]</a:t>
            </a:r>
            <a:r>
              <a:rPr lang="en-US" sz="5200"/>
              <a:t> </a:t>
            </a:r>
            <a:r>
              <a:rPr b="1" lang="en-US" sz="5200"/>
              <a:t>T. Cai et al.,</a:t>
            </a:r>
            <a:r>
              <a:rPr lang="en-US" sz="5200"/>
              <a:t> </a:t>
            </a:r>
            <a:r>
              <a:rPr i="1" lang="en-US" sz="5200"/>
              <a:t>"Large Language Models as Tool Makers,"</a:t>
            </a:r>
            <a:r>
              <a:rPr lang="en-US" sz="5200"/>
              <a:t> 2023.</a:t>
            </a:r>
            <a:br>
              <a:rPr lang="en-US" sz="5200"/>
            </a:br>
            <a:r>
              <a:rPr lang="en-US" sz="5200"/>
              <a:t> The authors demonstrate that Large Language Models can generate executable software tools directly from natural language instructions. </a:t>
            </a:r>
            <a:endParaRPr sz="5200"/>
          </a:p>
          <a:p>
            <a:pPr indent="0" lvl="0" marL="0" rtl="0" algn="l">
              <a:lnSpc>
                <a:spcPct val="115000"/>
              </a:lnSpc>
              <a:spcBef>
                <a:spcPts val="1200"/>
              </a:spcBef>
              <a:spcAft>
                <a:spcPts val="0"/>
              </a:spcAft>
              <a:buNone/>
            </a:pPr>
            <a:r>
              <a:rPr b="1" lang="en-US" sz="5200"/>
              <a:t>[3]</a:t>
            </a:r>
            <a:r>
              <a:rPr lang="en-US" sz="5200"/>
              <a:t> </a:t>
            </a:r>
            <a:r>
              <a:rPr b="1" lang="en-US" sz="5200"/>
              <a:t>T. Schick et al.,</a:t>
            </a:r>
            <a:r>
              <a:rPr lang="en-US" sz="5200"/>
              <a:t> </a:t>
            </a:r>
            <a:r>
              <a:rPr i="1" lang="en-US" sz="5200"/>
              <a:t>"Toolformer: Language Models Can Teach Themselves to Use Tools,"</a:t>
            </a:r>
            <a:r>
              <a:rPr lang="en-US" sz="5200"/>
              <a:t> 2023.</a:t>
            </a:r>
            <a:br>
              <a:rPr lang="en-US" sz="5200"/>
            </a:br>
            <a:r>
              <a:rPr lang="en-US" sz="5200"/>
              <a:t> Toolformer enables language models to learn how to use external tools through self-supervised learning without requiring manual annotations. </a:t>
            </a:r>
            <a:endParaRPr sz="5200"/>
          </a:p>
          <a:p>
            <a:pPr indent="0" lvl="0" marL="0" rtl="0" algn="l">
              <a:lnSpc>
                <a:spcPct val="115000"/>
              </a:lnSpc>
              <a:spcBef>
                <a:spcPts val="1200"/>
              </a:spcBef>
              <a:spcAft>
                <a:spcPts val="0"/>
              </a:spcAft>
              <a:buNone/>
            </a:pPr>
            <a:r>
              <a:rPr b="1" lang="en-US" sz="5200"/>
              <a:t>[4]</a:t>
            </a:r>
            <a:r>
              <a:rPr lang="en-US" sz="5200"/>
              <a:t> </a:t>
            </a:r>
            <a:r>
              <a:rPr b="1" lang="en-US" sz="5200"/>
              <a:t>Y. Qin et al.,</a:t>
            </a:r>
            <a:r>
              <a:rPr lang="en-US" sz="5200"/>
              <a:t> </a:t>
            </a:r>
            <a:r>
              <a:rPr i="1" lang="en-US" sz="5200"/>
              <a:t>"ToolLLM: Facilitating Large Language Models to Master 16000+ Real-World APIs,"</a:t>
            </a:r>
            <a:r>
              <a:rPr lang="en-US" sz="5200"/>
              <a:t> 2023.</a:t>
            </a:r>
            <a:br>
              <a:rPr lang="en-US" sz="5200"/>
            </a:br>
            <a:r>
              <a:rPr lang="en-US" sz="5200"/>
              <a:t> ToolLLM provides a framework that allows language models to interact with more than </a:t>
            </a:r>
            <a:r>
              <a:rPr b="1" lang="en-US" sz="5200"/>
              <a:t>16,000 real-world APIs</a:t>
            </a:r>
            <a:r>
              <a:rPr lang="en-US" sz="5200"/>
              <a:t> using intelligent retrieval.</a:t>
            </a:r>
            <a:endParaRPr sz="5200"/>
          </a:p>
          <a:p>
            <a:pPr indent="0" lvl="0" marL="0" rtl="0" algn="l">
              <a:lnSpc>
                <a:spcPct val="115000"/>
              </a:lnSpc>
              <a:spcBef>
                <a:spcPts val="1200"/>
              </a:spcBef>
              <a:spcAft>
                <a:spcPts val="1200"/>
              </a:spcAft>
              <a:buNone/>
            </a:pPr>
            <a:r>
              <a:rPr b="1" lang="en-US" sz="5200"/>
              <a:t>[5]</a:t>
            </a:r>
            <a:r>
              <a:rPr lang="en-US" sz="5200"/>
              <a:t> </a:t>
            </a:r>
            <a:r>
              <a:rPr b="1" lang="en-US" sz="5200"/>
              <a:t>S. Yao et al.,</a:t>
            </a:r>
            <a:r>
              <a:rPr lang="en-US" sz="5200"/>
              <a:t> </a:t>
            </a:r>
            <a:r>
              <a:rPr i="1" lang="en-US" sz="5200"/>
              <a:t>"ReAct: Synergizing Reasoning and Acting in Language Models,"</a:t>
            </a:r>
            <a:r>
              <a:rPr lang="en-US" sz="5200"/>
              <a:t> 2023.</a:t>
            </a:r>
            <a:br>
              <a:rPr lang="en-US" sz="5200"/>
            </a:br>
            <a:r>
              <a:rPr lang="en-US" sz="5200"/>
              <a:t> ReAct combines logical reasoning with action execution, enabling language models to think before interacting with external tools or environments. </a:t>
            </a:r>
            <a:endParaRPr b="1" sz="1200">
              <a:latin typeface="Arial"/>
              <a:ea typeface="Arial"/>
              <a:cs typeface="Arial"/>
              <a:sym typeface="Arial"/>
            </a:endParaRPr>
          </a:p>
        </p:txBody>
      </p:sp>
      <p:pic>
        <p:nvPicPr>
          <p:cNvPr id="137" name="Google Shape;137;p21"/>
          <p:cNvPicPr preferRelativeResize="0"/>
          <p:nvPr/>
        </p:nvPicPr>
        <p:blipFill rotWithShape="1">
          <a:blip r:embed="rId3">
            <a:alphaModFix/>
          </a:blip>
          <a:srcRect b="0" l="0" r="0" t="0"/>
          <a:stretch/>
        </p:blipFill>
        <p:spPr>
          <a:xfrm>
            <a:off x="-4763" y="5562600"/>
            <a:ext cx="9155113" cy="1295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